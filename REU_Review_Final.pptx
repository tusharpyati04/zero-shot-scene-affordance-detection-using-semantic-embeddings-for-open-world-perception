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3" roundtripDataSignature="AMtx7mhZ0BkRLc0tS4/c3YFQ7qik6g06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B81663-2ADE-4422-954A-A9CC8490E308}">
  <a:tblStyle styleId="{22B81663-2ADE-4422-954A-A9CC8490E308}"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05" name="Google Shape;105;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9" name="Google Shape;359;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b5eab210b8_0_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g3b5eab210b8_0_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b43b8126d7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g3b43b8126d7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b5eab210b8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5" name="Google Shape;415;g3b5eab210b8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b5eab210b8_0_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3" name="Google Shape;433;g3b5eab210b8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b5eab210b8_0_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 name="Google Shape;453;g3b5eab210b8_0_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b5eab210b8_0_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g3b5eab210b8_0_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b5eab210b8_0_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3" name="Google Shape;493;g3b5eab210b8_0_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5eab210b8_0_1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5eab210b8_0_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15" name="Shape 15"/>
        <p:cNvGrpSpPr/>
        <p:nvPr/>
      </p:nvGrpSpPr>
      <p:grpSpPr>
        <a:xfrm>
          <a:off x="0" y="0"/>
          <a:ext cx="0" cy="0"/>
          <a:chOff x="0" y="0"/>
          <a:chExt cx="0" cy="0"/>
        </a:xfrm>
      </p:grpSpPr>
      <p:sp>
        <p:nvSpPr>
          <p:cNvPr id="16" name="Google Shape;16;p1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1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 type="body"/>
          </p:nvPr>
        </p:nvSpPr>
        <p:spPr>
          <a:xfrm>
            <a:off x="1143000" y="731520"/>
            <a:ext cx="6400800" cy="347472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14"/>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4" name="Google Shape;24;p1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7" name="Shape 27"/>
        <p:cNvGrpSpPr/>
        <p:nvPr/>
      </p:nvGrpSpPr>
      <p:grpSpPr>
        <a:xfrm>
          <a:off x="0" y="0"/>
          <a:ext cx="0" cy="0"/>
          <a:chOff x="0" y="0"/>
          <a:chExt cx="0" cy="0"/>
        </a:xfrm>
      </p:grpSpPr>
      <p:sp>
        <p:nvSpPr>
          <p:cNvPr id="28" name="Google Shape;28;p1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 name="Google Shape;30;p1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16"/>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1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1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17"/>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17"/>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1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20"/>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2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p:nvPr>
            <p:ph idx="2" type="pic"/>
          </p:nvPr>
        </p:nvSpPr>
        <p:spPr>
          <a:xfrm>
            <a:off x="3887391" y="987426"/>
            <a:ext cx="4629150" cy="4873625"/>
          </a:xfrm>
          <a:prstGeom prst="rect">
            <a:avLst/>
          </a:prstGeom>
          <a:noFill/>
          <a:ln>
            <a:noFill/>
          </a:ln>
        </p:spPr>
      </p:sp>
      <p:sp>
        <p:nvSpPr>
          <p:cNvPr id="68" name="Google Shape;68;p21"/>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2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2"/>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2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3"/>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2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8.jpg"/><Relationship Id="rId6"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5.jpg"/><Relationship Id="rId6"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1.jpg"/><Relationship Id="rId6"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7.jpg"/><Relationship Id="rId6"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p:nvPr/>
        </p:nvSpPr>
        <p:spPr>
          <a:xfrm>
            <a:off x="0" y="0"/>
            <a:ext cx="9144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kle tech logo" id="90" name="Google Shape;90;p1"/>
          <p:cNvPicPr preferRelativeResize="0"/>
          <p:nvPr/>
        </p:nvPicPr>
        <p:blipFill rotWithShape="1">
          <a:blip r:embed="rId4">
            <a:alphaModFix/>
          </a:blip>
          <a:srcRect b="0" l="0" r="0" t="0"/>
          <a:stretch/>
        </p:blipFill>
        <p:spPr>
          <a:xfrm>
            <a:off x="6547573" y="229840"/>
            <a:ext cx="2215427" cy="532160"/>
          </a:xfrm>
          <a:prstGeom prst="rect">
            <a:avLst/>
          </a:prstGeom>
          <a:noFill/>
          <a:ln>
            <a:noFill/>
          </a:ln>
        </p:spPr>
      </p:pic>
      <p:sp>
        <p:nvSpPr>
          <p:cNvPr id="91" name="Google Shape;91;p1"/>
          <p:cNvSpPr txBox="1"/>
          <p:nvPr/>
        </p:nvSpPr>
        <p:spPr>
          <a:xfrm>
            <a:off x="6159504" y="5175251"/>
            <a:ext cx="2743200" cy="200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Guide Details:  </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dk1"/>
                </a:solidFill>
                <a:latin typeface="Times New Roman"/>
                <a:ea typeface="Times New Roman"/>
                <a:cs typeface="Times New Roman"/>
                <a:sym typeface="Times New Roman"/>
              </a:rPr>
              <a:t>Dr. UJWALA PATIL</a:t>
            </a:r>
            <a:endParaRPr b="0" i="0" sz="1800" u="sng" cap="none" strike="noStrike">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800"/>
              <a:buFont typeface="Arial"/>
              <a:buNone/>
            </a:pPr>
            <a:r>
              <a:rPr lang="en-US" sz="1800" u="sng">
                <a:solidFill>
                  <a:schemeClr val="dk1"/>
                </a:solidFill>
                <a:latin typeface="Times New Roman"/>
                <a:ea typeface="Times New Roman"/>
                <a:cs typeface="Times New Roman"/>
                <a:sym typeface="Times New Roman"/>
              </a:rPr>
              <a:t>Prof. PREETI PILLAI</a:t>
            </a:r>
            <a:endParaRPr>
              <a:solidFill>
                <a:schemeClr val="dk1"/>
              </a:solidFill>
            </a:endParaRPr>
          </a:p>
          <a:p>
            <a:pPr indent="0" lvl="0" marL="0" marR="0" rtl="0" algn="l">
              <a:lnSpc>
                <a:spcPct val="100000"/>
              </a:lnSpc>
              <a:spcBef>
                <a:spcPts val="0"/>
              </a:spcBef>
              <a:spcAft>
                <a:spcPts val="0"/>
              </a:spcAft>
              <a:buClr>
                <a:srgbClr val="000000"/>
              </a:buClr>
              <a:buSzPts val="1800"/>
              <a:buFont typeface="Arial"/>
              <a:buNone/>
            </a:pPr>
            <a:r>
              <a:t/>
            </a:r>
            <a:endParaRPr sz="1800" u="sng">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1"/>
          <p:cNvSpPr txBox="1"/>
          <p:nvPr/>
        </p:nvSpPr>
        <p:spPr>
          <a:xfrm>
            <a:off x="241296" y="4866240"/>
            <a:ext cx="6019800"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a:p>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chemeClr val="dk1"/>
                </a:solidFill>
                <a:latin typeface="Times New Roman"/>
                <a:ea typeface="Times New Roman"/>
                <a:cs typeface="Times New Roman"/>
                <a:sym typeface="Times New Roman"/>
              </a:rPr>
              <a:t>Presented By:</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Times New Roman"/>
                <a:ea typeface="Times New Roman"/>
                <a:cs typeface="Times New Roman"/>
                <a:sym typeface="Times New Roman"/>
              </a:rPr>
              <a:t>Tushar S Pyati – 01FE22BEC177</a:t>
            </a:r>
            <a:endParaRPr b="0" i="0" sz="1800" u="none" cap="none" strike="noStrike">
              <a:solidFill>
                <a:schemeClr val="dk1"/>
              </a:solidFill>
              <a:latin typeface="Times New Roman"/>
              <a:ea typeface="Times New Roman"/>
              <a:cs typeface="Times New Roman"/>
              <a:sym typeface="Times New Roman"/>
            </a:endParaRPr>
          </a:p>
        </p:txBody>
      </p:sp>
      <p:sp>
        <p:nvSpPr>
          <p:cNvPr id="93" name="Google Shape;93;p1"/>
          <p:cNvSpPr/>
          <p:nvPr/>
        </p:nvSpPr>
        <p:spPr>
          <a:xfrm>
            <a:off x="795789" y="673869"/>
            <a:ext cx="8106900" cy="954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800" u="none" cap="none" strike="noStrike">
                <a:solidFill>
                  <a:srgbClr val="002060"/>
                </a:solidFill>
                <a:latin typeface="Times New Roman"/>
                <a:ea typeface="Times New Roman"/>
                <a:cs typeface="Times New Roman"/>
                <a:sym typeface="Times New Roman"/>
              </a:rPr>
              <a:t>Research Experience for Undergraduates(REU) – Review </a:t>
            </a:r>
            <a:endParaRPr/>
          </a:p>
        </p:txBody>
      </p:sp>
      <p:grpSp>
        <p:nvGrpSpPr>
          <p:cNvPr id="94" name="Google Shape;94;p1"/>
          <p:cNvGrpSpPr/>
          <p:nvPr/>
        </p:nvGrpSpPr>
        <p:grpSpPr>
          <a:xfrm>
            <a:off x="457200" y="229840"/>
            <a:ext cx="3297243" cy="610262"/>
            <a:chOff x="533400" y="17929"/>
            <a:chExt cx="3297243" cy="660782"/>
          </a:xfrm>
        </p:grpSpPr>
        <p:pic>
          <p:nvPicPr>
            <p:cNvPr id="95" name="Google Shape;95;p1"/>
            <p:cNvPicPr preferRelativeResize="0"/>
            <p:nvPr/>
          </p:nvPicPr>
          <p:blipFill rotWithShape="1">
            <a:blip r:embed="rId5">
              <a:alphaModFix/>
            </a:blip>
            <a:srcRect b="0" l="0" r="0" t="0"/>
            <a:stretch/>
          </p:blipFill>
          <p:spPr>
            <a:xfrm>
              <a:off x="533400" y="45808"/>
              <a:ext cx="557213" cy="632903"/>
            </a:xfrm>
            <a:prstGeom prst="rect">
              <a:avLst/>
            </a:prstGeom>
            <a:noFill/>
            <a:ln>
              <a:noFill/>
            </a:ln>
          </p:spPr>
        </p:pic>
        <p:sp>
          <p:nvSpPr>
            <p:cNvPr id="96" name="Google Shape;96;p1"/>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98" name="Google Shape;98;p1"/>
          <p:cNvSpPr txBox="1"/>
          <p:nvPr>
            <p:ph idx="10" type="dt"/>
          </p:nvPr>
        </p:nvSpPr>
        <p:spPr>
          <a:xfrm>
            <a:off x="628650" y="6373501"/>
            <a:ext cx="20574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10/01/2026</a:t>
            </a:r>
            <a:endParaRPr/>
          </a:p>
        </p:txBody>
      </p:sp>
      <p:sp>
        <p:nvSpPr>
          <p:cNvPr id="99" name="Google Shape;99;p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Department of ECE</a:t>
            </a:r>
            <a:endParaRPr/>
          </a:p>
        </p:txBody>
      </p:sp>
      <p:sp>
        <p:nvSpPr>
          <p:cNvPr id="100" name="Google Shape;100;p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101" name="Google Shape;101;p1"/>
          <p:cNvSpPr txBox="1"/>
          <p:nvPr/>
        </p:nvSpPr>
        <p:spPr>
          <a:xfrm>
            <a:off x="383399" y="1451067"/>
            <a:ext cx="83772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Title: Zero-Shot Scene Affordance Detection Using Semantic Embeddings for Open-World Perception</a:t>
            </a:r>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kle tech logo" id="107" name="Google Shape;107;p2"/>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cxnSp>
        <p:nvCxnSpPr>
          <p:cNvPr id="108" name="Google Shape;108;p2"/>
          <p:cNvCxnSpPr/>
          <p:nvPr/>
        </p:nvCxnSpPr>
        <p:spPr>
          <a:xfrm flipH="1" rot="10800000">
            <a:off x="533400" y="685800"/>
            <a:ext cx="8153400" cy="28863"/>
          </a:xfrm>
          <a:prstGeom prst="straightConnector1">
            <a:avLst/>
          </a:prstGeom>
          <a:noFill/>
          <a:ln cap="flat" cmpd="thickThin" w="38100">
            <a:solidFill>
              <a:srgbClr val="0070C0"/>
            </a:solidFill>
            <a:prstDash val="solid"/>
            <a:miter lim="800000"/>
            <a:headEnd len="sm" w="sm" type="none"/>
            <a:tailEnd len="sm" w="sm" type="none"/>
          </a:ln>
        </p:spPr>
      </p:cxnSp>
      <p:sp>
        <p:nvSpPr>
          <p:cNvPr id="109" name="Google Shape;109;p2"/>
          <p:cNvSpPr/>
          <p:nvPr/>
        </p:nvSpPr>
        <p:spPr>
          <a:xfrm>
            <a:off x="0" y="6553200"/>
            <a:ext cx="9144000" cy="304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 name="Google Shape;110;p2"/>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10/01/2026</a:t>
            </a:r>
            <a:endParaRPr b="1" sz="1100">
              <a:solidFill>
                <a:schemeClr val="dk1"/>
              </a:solidFill>
              <a:latin typeface="Times New Roman"/>
              <a:ea typeface="Times New Roman"/>
              <a:cs typeface="Times New Roman"/>
              <a:sym typeface="Times New Roman"/>
            </a:endParaRPr>
          </a:p>
        </p:txBody>
      </p:sp>
      <p:sp>
        <p:nvSpPr>
          <p:cNvPr id="111" name="Google Shape;111;p2"/>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112" name="Google Shape;112;p2"/>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2</a:t>
            </a:r>
            <a:endParaRPr/>
          </a:p>
        </p:txBody>
      </p:sp>
      <p:sp>
        <p:nvSpPr>
          <p:cNvPr id="113" name="Google Shape;113;p2"/>
          <p:cNvSpPr/>
          <p:nvPr/>
        </p:nvSpPr>
        <p:spPr>
          <a:xfrm>
            <a:off x="339448" y="1317050"/>
            <a:ext cx="1869300"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Contents</a:t>
            </a:r>
            <a:endParaRPr b="0" i="0" sz="2400" u="none" cap="none" strike="noStrike">
              <a:solidFill>
                <a:schemeClr val="dk1"/>
              </a:solidFill>
              <a:latin typeface="Times New Roman"/>
              <a:ea typeface="Times New Roman"/>
              <a:cs typeface="Times New Roman"/>
              <a:sym typeface="Times New Roman"/>
            </a:endParaRPr>
          </a:p>
        </p:txBody>
      </p:sp>
      <p:grpSp>
        <p:nvGrpSpPr>
          <p:cNvPr id="114" name="Google Shape;114;p2"/>
          <p:cNvGrpSpPr/>
          <p:nvPr/>
        </p:nvGrpSpPr>
        <p:grpSpPr>
          <a:xfrm>
            <a:off x="549088" y="45376"/>
            <a:ext cx="3297243" cy="610262"/>
            <a:chOff x="533400" y="17929"/>
            <a:chExt cx="3297243" cy="660782"/>
          </a:xfrm>
        </p:grpSpPr>
        <p:pic>
          <p:nvPicPr>
            <p:cNvPr id="115" name="Google Shape;115;p2"/>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116" name="Google Shape;116;p2"/>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117" name="Google Shape;117;p2"/>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118" name="Google Shape;118;p2"/>
          <p:cNvSpPr txBox="1"/>
          <p:nvPr/>
        </p:nvSpPr>
        <p:spPr>
          <a:xfrm>
            <a:off x="533400" y="2161409"/>
            <a:ext cx="8137800" cy="41661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Times New Roman"/>
                <a:ea typeface="Times New Roman"/>
                <a:cs typeface="Times New Roman"/>
                <a:sym typeface="Times New Roman"/>
              </a:rPr>
              <a:t>Introduction</a:t>
            </a:r>
            <a:endParaRPr b="0"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Times New Roman"/>
                <a:ea typeface="Times New Roman"/>
                <a:cs typeface="Times New Roman"/>
                <a:sym typeface="Times New Roman"/>
              </a:rPr>
              <a:t>Problem statement</a:t>
            </a:r>
            <a:endParaRPr/>
          </a:p>
          <a:p>
            <a:pPr indent="-361950" lvl="0" marL="4572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Times New Roman"/>
                <a:ea typeface="Times New Roman"/>
                <a:cs typeface="Times New Roman"/>
                <a:sym typeface="Times New Roman"/>
              </a:rPr>
              <a:t>Literature Survey</a:t>
            </a:r>
            <a:endParaRPr/>
          </a:p>
          <a:p>
            <a:pPr indent="-361950" lvl="0" marL="4572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Times New Roman"/>
                <a:ea typeface="Times New Roman"/>
                <a:cs typeface="Times New Roman"/>
                <a:sym typeface="Times New Roman"/>
              </a:rPr>
              <a:t>Objectives</a:t>
            </a:r>
            <a:endParaRPr b="0" i="0" sz="2100" u="none" cap="none" strike="noStrike">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CLIP architecture</a:t>
            </a:r>
            <a:endParaRPr sz="2100">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CLIPSeg</a:t>
            </a:r>
            <a:endParaRPr sz="2100">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Affordance detection</a:t>
            </a:r>
            <a:endParaRPr sz="2100">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Methodology</a:t>
            </a:r>
            <a:endParaRPr sz="2100">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Results</a:t>
            </a:r>
            <a:endParaRPr sz="2100">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Conclusion</a:t>
            </a:r>
            <a:endParaRPr sz="2100">
              <a:solidFill>
                <a:schemeClr val="dk1"/>
              </a:solidFill>
              <a:latin typeface="Times New Roman"/>
              <a:ea typeface="Times New Roman"/>
              <a:cs typeface="Times New Roman"/>
              <a:sym typeface="Times New Roman"/>
            </a:endParaRPr>
          </a:p>
          <a:p>
            <a:pPr indent="-361950" lvl="0" marL="457200" marR="0" rtl="0" algn="l">
              <a:lnSpc>
                <a:spcPct val="100000"/>
              </a:lnSpc>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Future Scope</a:t>
            </a:r>
            <a:endParaRPr sz="21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cxnSp>
        <p:nvCxnSpPr>
          <p:cNvPr id="123" name="Google Shape;123;p3"/>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124" name="Google Shape;124;p3"/>
          <p:cNvSpPr/>
          <p:nvPr/>
        </p:nvSpPr>
        <p:spPr>
          <a:xfrm>
            <a:off x="0" y="6553200"/>
            <a:ext cx="9144000" cy="3048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p3"/>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1200">
                <a:solidFill>
                  <a:schemeClr val="dk1"/>
                </a:solidFill>
                <a:latin typeface="Times New Roman"/>
                <a:ea typeface="Times New Roman"/>
                <a:cs typeface="Times New Roman"/>
                <a:sym typeface="Times New Roman"/>
              </a:rPr>
              <a:t>10</a:t>
            </a:r>
            <a:r>
              <a:rPr b="1" lang="en-US" sz="1200">
                <a:solidFill>
                  <a:schemeClr val="dk1"/>
                </a:solidFill>
                <a:latin typeface="Times New Roman"/>
                <a:ea typeface="Times New Roman"/>
                <a:cs typeface="Times New Roman"/>
                <a:sym typeface="Times New Roman"/>
              </a:rPr>
              <a:t>/01/2026</a:t>
            </a:r>
            <a:endParaRPr b="1" sz="1200">
              <a:solidFill>
                <a:schemeClr val="dk1"/>
              </a:solidFill>
              <a:latin typeface="Times New Roman"/>
              <a:ea typeface="Times New Roman"/>
              <a:cs typeface="Times New Roman"/>
              <a:sym typeface="Times New Roman"/>
            </a:endParaRPr>
          </a:p>
        </p:txBody>
      </p:sp>
      <p:sp>
        <p:nvSpPr>
          <p:cNvPr id="126" name="Google Shape;126;p3"/>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3</a:t>
            </a:r>
            <a:endParaRPr sz="1200">
              <a:solidFill>
                <a:schemeClr val="dk1"/>
              </a:solidFill>
              <a:latin typeface="Times New Roman"/>
              <a:ea typeface="Times New Roman"/>
              <a:cs typeface="Times New Roman"/>
              <a:sym typeface="Times New Roman"/>
            </a:endParaRPr>
          </a:p>
        </p:txBody>
      </p:sp>
      <p:sp>
        <p:nvSpPr>
          <p:cNvPr id="127" name="Google Shape;127;p3"/>
          <p:cNvSpPr/>
          <p:nvPr/>
        </p:nvSpPr>
        <p:spPr>
          <a:xfrm>
            <a:off x="291673" y="1218788"/>
            <a:ext cx="2057400" cy="41545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100"/>
              <a:buFont typeface="Arial"/>
              <a:buNone/>
            </a:pPr>
            <a:r>
              <a:rPr b="1" i="0" lang="en-US" sz="2100" u="none" cap="none" strike="noStrike">
                <a:solidFill>
                  <a:schemeClr val="dk1"/>
                </a:solidFill>
                <a:latin typeface="Times New Roman"/>
                <a:ea typeface="Times New Roman"/>
                <a:cs typeface="Times New Roman"/>
                <a:sym typeface="Times New Roman"/>
              </a:rPr>
              <a:t>Introduction</a:t>
            </a:r>
            <a:endParaRPr b="0" i="0" sz="2100" u="none" cap="none" strike="noStrike">
              <a:solidFill>
                <a:schemeClr val="dk1"/>
              </a:solidFill>
              <a:latin typeface="Times New Roman"/>
              <a:ea typeface="Times New Roman"/>
              <a:cs typeface="Times New Roman"/>
              <a:sym typeface="Times New Roman"/>
            </a:endParaRPr>
          </a:p>
        </p:txBody>
      </p:sp>
      <p:sp>
        <p:nvSpPr>
          <p:cNvPr id="128" name="Google Shape;128;p3"/>
          <p:cNvSpPr/>
          <p:nvPr/>
        </p:nvSpPr>
        <p:spPr>
          <a:xfrm>
            <a:off x="549088" y="1996088"/>
            <a:ext cx="7909200" cy="258528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Advanced Driver Assistance Systems (ADAS) rely on accurate perception for safe driving but are confined to known objects and situations on base models. Driving in the real world, however, demands open-world perception to handle unforeseen situations. Scene affordance detection is interested in actionable understanding (e.g., drivable, crossable, obstructed) rather than mere object labels. </a:t>
            </a:r>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Through the application of zero-shot learning with semantic embeddings, ADAS can reason about affordances of unknown objects without direct training, enabling scalable, flexible, and safer decision-making in dynamic scenarios.</a:t>
            </a:r>
            <a:endParaRPr b="0" i="0" sz="1800" u="none" cap="none" strike="noStrike">
              <a:solidFill>
                <a:srgbClr val="000000"/>
              </a:solidFill>
              <a:latin typeface="Times New Roman"/>
              <a:ea typeface="Times New Roman"/>
              <a:cs typeface="Times New Roman"/>
              <a:sym typeface="Times New Roman"/>
            </a:endParaRPr>
          </a:p>
        </p:txBody>
      </p:sp>
      <p:pic>
        <p:nvPicPr>
          <p:cNvPr descr="kle tech logo" id="129" name="Google Shape;129;p3"/>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130" name="Google Shape;130;p3"/>
          <p:cNvGrpSpPr/>
          <p:nvPr/>
        </p:nvGrpSpPr>
        <p:grpSpPr>
          <a:xfrm>
            <a:off x="549088" y="45376"/>
            <a:ext cx="3297243" cy="610262"/>
            <a:chOff x="533400" y="17929"/>
            <a:chExt cx="3297243" cy="660782"/>
          </a:xfrm>
        </p:grpSpPr>
        <p:pic>
          <p:nvPicPr>
            <p:cNvPr id="131" name="Google Shape;131;p3"/>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132" name="Google Shape;132;p3"/>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134" name="Google Shape;134;p3"/>
          <p:cNvSpPr txBox="1"/>
          <p:nvPr>
            <p:ph idx="11" type="ftr"/>
          </p:nvPr>
        </p:nvSpPr>
        <p:spPr>
          <a:xfrm>
            <a:off x="3228400" y="6601475"/>
            <a:ext cx="30861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Department of ECE</a:t>
            </a:r>
            <a:endParaRPr b="1" sz="1200">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SzPts val="1400"/>
              <a:buNone/>
            </a:pPr>
            <a:r>
              <a:t/>
            </a:r>
            <a:endParaRPr b="1" sz="105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cxnSp>
        <p:nvCxnSpPr>
          <p:cNvPr id="139" name="Google Shape;139;p5"/>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140" name="Google Shape;140;p5"/>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5"/>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142" name="Google Shape;142;p5"/>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143" name="Google Shape;143;p5"/>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4</a:t>
            </a:r>
            <a:endParaRPr/>
          </a:p>
        </p:txBody>
      </p:sp>
      <p:sp>
        <p:nvSpPr>
          <p:cNvPr id="144" name="Google Shape;144;p5"/>
          <p:cNvSpPr/>
          <p:nvPr/>
        </p:nvSpPr>
        <p:spPr>
          <a:xfrm>
            <a:off x="512226" y="1434374"/>
            <a:ext cx="2438400"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chemeClr val="dk1"/>
                </a:solidFill>
                <a:latin typeface="Times New Roman"/>
                <a:ea typeface="Times New Roman"/>
                <a:cs typeface="Times New Roman"/>
                <a:sym typeface="Times New Roman"/>
              </a:rPr>
              <a:t>Problem Statement</a:t>
            </a:r>
            <a:endParaRPr b="0" i="0" sz="2100" u="none" cap="none" strike="noStrike">
              <a:solidFill>
                <a:schemeClr val="dk1"/>
              </a:solidFill>
              <a:latin typeface="Times New Roman"/>
              <a:ea typeface="Times New Roman"/>
              <a:cs typeface="Times New Roman"/>
              <a:sym typeface="Times New Roman"/>
            </a:endParaRPr>
          </a:p>
        </p:txBody>
      </p:sp>
      <p:pic>
        <p:nvPicPr>
          <p:cNvPr descr="kle tech logo" id="145" name="Google Shape;145;p5"/>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146" name="Google Shape;146;p5"/>
          <p:cNvGrpSpPr/>
          <p:nvPr/>
        </p:nvGrpSpPr>
        <p:grpSpPr>
          <a:xfrm>
            <a:off x="549088" y="45376"/>
            <a:ext cx="3297243" cy="610262"/>
            <a:chOff x="533400" y="17929"/>
            <a:chExt cx="3297243" cy="660782"/>
          </a:xfrm>
        </p:grpSpPr>
        <p:pic>
          <p:nvPicPr>
            <p:cNvPr id="147" name="Google Shape;147;p5"/>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148" name="Google Shape;148;p5"/>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149" name="Google Shape;149;p5"/>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150" name="Google Shape;150;p5"/>
          <p:cNvSpPr txBox="1"/>
          <p:nvPr/>
        </p:nvSpPr>
        <p:spPr>
          <a:xfrm>
            <a:off x="571500" y="2045794"/>
            <a:ext cx="8001000" cy="738633"/>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Zero-Shot Scene Affordance Detection Using Semantic Embeddings for Open-World Perception.</a:t>
            </a:r>
            <a:endParaRPr b="0" i="0" sz="1400" u="none" cap="none" strike="noStrike">
              <a:solidFill>
                <a:schemeClr val="dk1"/>
              </a:solidFill>
              <a:latin typeface="Arial"/>
              <a:ea typeface="Arial"/>
              <a:cs typeface="Arial"/>
              <a:sym typeface="Arial"/>
            </a:endParaRPr>
          </a:p>
        </p:txBody>
      </p:sp>
      <p:sp>
        <p:nvSpPr>
          <p:cNvPr id="151" name="Google Shape;151;p5"/>
          <p:cNvSpPr txBox="1"/>
          <p:nvPr/>
        </p:nvSpPr>
        <p:spPr>
          <a:xfrm>
            <a:off x="512226" y="3163824"/>
            <a:ext cx="4169502" cy="4154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0000"/>
                </a:solidFill>
                <a:latin typeface="Times New Roman"/>
                <a:ea typeface="Times New Roman"/>
                <a:cs typeface="Times New Roman"/>
                <a:sym typeface="Times New Roman"/>
              </a:rPr>
              <a:t>Inference from Problem Statement</a:t>
            </a:r>
            <a:endParaRPr/>
          </a:p>
        </p:txBody>
      </p:sp>
      <p:sp>
        <p:nvSpPr>
          <p:cNvPr id="152" name="Google Shape;152;p5"/>
          <p:cNvSpPr txBox="1"/>
          <p:nvPr/>
        </p:nvSpPr>
        <p:spPr>
          <a:xfrm>
            <a:off x="571500" y="3874374"/>
            <a:ext cx="8247888"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This problem aims to equip perception systems with zero-shot affordance detection using semantic embeddings, allowing them to generalize to unseen objects and hazards. Such capability supports open-world perception in ADAS by focusing on actionable understanding rather than fixed object categories, leading to safer and more adaptive decision-making.</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cxnSp>
        <p:nvCxnSpPr>
          <p:cNvPr id="157" name="Google Shape;157;p24"/>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158" name="Google Shape;158;p24"/>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24"/>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160" name="Google Shape;160;p24"/>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161" name="Google Shape;161;p24"/>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5</a:t>
            </a:r>
            <a:endParaRPr/>
          </a:p>
        </p:txBody>
      </p:sp>
      <p:sp>
        <p:nvSpPr>
          <p:cNvPr id="162" name="Google Shape;162;p24"/>
          <p:cNvSpPr/>
          <p:nvPr/>
        </p:nvSpPr>
        <p:spPr>
          <a:xfrm>
            <a:off x="432243" y="1004454"/>
            <a:ext cx="2438400"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chemeClr val="dk1"/>
                </a:solidFill>
                <a:latin typeface="Times New Roman"/>
                <a:ea typeface="Times New Roman"/>
                <a:cs typeface="Times New Roman"/>
                <a:sym typeface="Times New Roman"/>
              </a:rPr>
              <a:t>Literature Survey:</a:t>
            </a:r>
            <a:endParaRPr b="0" i="0" sz="2100" u="none" cap="none" strike="noStrike">
              <a:solidFill>
                <a:schemeClr val="dk1"/>
              </a:solidFill>
              <a:latin typeface="Times New Roman"/>
              <a:ea typeface="Times New Roman"/>
              <a:cs typeface="Times New Roman"/>
              <a:sym typeface="Times New Roman"/>
            </a:endParaRPr>
          </a:p>
        </p:txBody>
      </p:sp>
      <p:pic>
        <p:nvPicPr>
          <p:cNvPr descr="kle tech logo" id="163" name="Google Shape;163;p24"/>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164" name="Google Shape;164;p24"/>
          <p:cNvGrpSpPr/>
          <p:nvPr/>
        </p:nvGrpSpPr>
        <p:grpSpPr>
          <a:xfrm>
            <a:off x="549088" y="45376"/>
            <a:ext cx="3297243" cy="610262"/>
            <a:chOff x="533400" y="17929"/>
            <a:chExt cx="3297243" cy="660782"/>
          </a:xfrm>
        </p:grpSpPr>
        <p:pic>
          <p:nvPicPr>
            <p:cNvPr id="165" name="Google Shape;165;p24"/>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166" name="Google Shape;166;p24"/>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167" name="Google Shape;167;p24"/>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graphicFrame>
        <p:nvGraphicFramePr>
          <p:cNvPr id="168" name="Google Shape;168;p24"/>
          <p:cNvGraphicFramePr/>
          <p:nvPr/>
        </p:nvGraphicFramePr>
        <p:xfrm>
          <a:off x="100584" y="1659274"/>
          <a:ext cx="3000000" cy="3000000"/>
        </p:xfrm>
        <a:graphic>
          <a:graphicData uri="http://schemas.openxmlformats.org/drawingml/2006/table">
            <a:tbl>
              <a:tblPr bandRow="1" firstRow="1">
                <a:noFill/>
                <a:tableStyleId>{22B81663-2ADE-4422-954A-A9CC8490E308}</a:tableStyleId>
              </a:tblPr>
              <a:tblGrid>
                <a:gridCol w="683000"/>
                <a:gridCol w="1413450"/>
                <a:gridCol w="1460875"/>
                <a:gridCol w="1754950"/>
                <a:gridCol w="1539600"/>
                <a:gridCol w="2103125"/>
              </a:tblGrid>
              <a:tr h="554575">
                <a:tc>
                  <a:txBody>
                    <a:bodyPr/>
                    <a:lstStyle/>
                    <a:p>
                      <a:pPr indent="0" lvl="0" marL="0" marR="0" rtl="0" algn="just">
                        <a:lnSpc>
                          <a:spcPct val="100000"/>
                        </a:lnSpc>
                        <a:spcBef>
                          <a:spcPts val="0"/>
                        </a:spcBef>
                        <a:spcAft>
                          <a:spcPts val="0"/>
                        </a:spcAft>
                        <a:buNone/>
                      </a:pPr>
                      <a:r>
                        <a:rPr lang="en-US" sz="1400" u="none" cap="none" strike="noStrike"/>
                        <a:t>Sl.No</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Title</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Dataset</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Methodology</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Gaps</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Results</a:t>
                      </a:r>
                      <a:endParaRPr/>
                    </a:p>
                  </a:txBody>
                  <a:tcPr marT="45725" marB="45725" marR="91450" marL="91450"/>
                </a:tc>
              </a:tr>
              <a:tr h="2197225">
                <a:tc>
                  <a:txBody>
                    <a:bodyPr/>
                    <a:lstStyle/>
                    <a:p>
                      <a:pPr indent="0" lvl="0" marL="0" marR="0" rtl="0" algn="just">
                        <a:lnSpc>
                          <a:spcPct val="100000"/>
                        </a:lnSpc>
                        <a:spcBef>
                          <a:spcPts val="0"/>
                        </a:spcBef>
                        <a:spcAft>
                          <a:spcPts val="0"/>
                        </a:spcAft>
                        <a:buNone/>
                      </a:pPr>
                      <a:r>
                        <a:rPr lang="en-US" sz="1400" u="none" cap="none" strike="noStrike"/>
                        <a:t>1.</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On the Potential of Open-Vocabulary Models for Object Detection in Unusual Street Scenes (CVPR 2024)</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None/>
                      </a:pPr>
                      <a:r>
                        <a:rPr b="0" lang="en-US" sz="1400" u="none" cap="none" strike="noStrike">
                          <a:latin typeface="Times New Roman"/>
                          <a:ea typeface="Times New Roman"/>
                          <a:cs typeface="Times New Roman"/>
                          <a:sym typeface="Times New Roman"/>
                        </a:rPr>
                        <a:t>RoadObstacle21</a:t>
                      </a:r>
                      <a:endParaRPr/>
                    </a:p>
                    <a:p>
                      <a:pPr indent="0" lvl="0" marL="0" marR="0" rtl="0" algn="just">
                        <a:lnSpc>
                          <a:spcPct val="100000"/>
                        </a:lnSpc>
                        <a:spcBef>
                          <a:spcPts val="0"/>
                        </a:spcBef>
                        <a:spcAft>
                          <a:spcPts val="0"/>
                        </a:spcAft>
                        <a:buNone/>
                      </a:pPr>
                      <a:r>
                        <a:rPr b="0" lang="en-US" sz="1400" u="none" cap="none" strike="noStrike">
                          <a:latin typeface="Times New Roman"/>
                          <a:ea typeface="Times New Roman"/>
                          <a:cs typeface="Times New Roman"/>
                          <a:sym typeface="Times New Roman"/>
                        </a:rPr>
                        <a:t>RoadAnomaly21</a:t>
                      </a:r>
                      <a:endParaRPr/>
                    </a:p>
                    <a:p>
                      <a:pPr indent="0" lvl="0" marL="0" marR="0" rtl="0" algn="just">
                        <a:lnSpc>
                          <a:spcPct val="100000"/>
                        </a:lnSpc>
                        <a:spcBef>
                          <a:spcPts val="0"/>
                        </a:spcBef>
                        <a:spcAft>
                          <a:spcPts val="0"/>
                        </a:spcAft>
                        <a:buNone/>
                      </a:pPr>
                      <a:r>
                        <a:rPr b="0" lang="en-US" sz="1400" u="none" cap="none" strike="noStrike">
                          <a:latin typeface="Times New Roman"/>
                          <a:ea typeface="Times New Roman"/>
                          <a:cs typeface="Times New Roman"/>
                          <a:sym typeface="Times New Roman"/>
                        </a:rPr>
                        <a:t>LostAndFound</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Models tested upon are:</a:t>
                      </a:r>
                      <a:endParaRPr/>
                    </a:p>
                    <a:p>
                      <a:pPr indent="0" lvl="0" marL="0" marR="0" rtl="0" algn="just">
                        <a:lnSpc>
                          <a:spcPct val="100000"/>
                        </a:lnSpc>
                        <a:spcBef>
                          <a:spcPts val="0"/>
                        </a:spcBef>
                        <a:spcAft>
                          <a:spcPts val="0"/>
                        </a:spcAft>
                        <a:buNone/>
                      </a:pPr>
                      <a:r>
                        <a:t/>
                      </a:r>
                      <a:endParaRPr sz="1400" u="none" cap="none" strike="noStrike"/>
                    </a:p>
                    <a:p>
                      <a:pPr indent="0" lvl="0" marL="0" marR="0" rtl="0" algn="just">
                        <a:lnSpc>
                          <a:spcPct val="100000"/>
                        </a:lnSpc>
                        <a:spcBef>
                          <a:spcPts val="0"/>
                        </a:spcBef>
                        <a:spcAft>
                          <a:spcPts val="0"/>
                        </a:spcAft>
                        <a:buNone/>
                      </a:pPr>
                      <a:r>
                        <a:rPr b="0" lang="en-US" sz="1400" u="none" cap="none" strike="noStrike">
                          <a:latin typeface="Times New Roman"/>
                          <a:ea typeface="Times New Roman"/>
                          <a:cs typeface="Times New Roman"/>
                          <a:sym typeface="Times New Roman"/>
                        </a:rPr>
                        <a:t>1.Grounding DINO</a:t>
                      </a:r>
                      <a:endParaRPr/>
                    </a:p>
                    <a:p>
                      <a:pPr indent="0" lvl="0" marL="0" marR="0" rtl="0" algn="just">
                        <a:lnSpc>
                          <a:spcPct val="100000"/>
                        </a:lnSpc>
                        <a:spcBef>
                          <a:spcPts val="0"/>
                        </a:spcBef>
                        <a:spcAft>
                          <a:spcPts val="0"/>
                        </a:spcAft>
                        <a:buNone/>
                      </a:pPr>
                      <a:r>
                        <a:rPr b="0" lang="en-US" sz="1400" u="none" cap="none" strike="noStrike">
                          <a:latin typeface="Times New Roman"/>
                          <a:ea typeface="Times New Roman"/>
                          <a:cs typeface="Times New Roman"/>
                          <a:sym typeface="Times New Roman"/>
                        </a:rPr>
                        <a:t>2.YOLO-World</a:t>
                      </a:r>
                      <a:endParaRPr/>
                    </a:p>
                    <a:p>
                      <a:pPr indent="0" lvl="0" marL="0" marR="0" rtl="0" algn="just">
                        <a:lnSpc>
                          <a:spcPct val="100000"/>
                        </a:lnSpc>
                        <a:spcBef>
                          <a:spcPts val="0"/>
                        </a:spcBef>
                        <a:spcAft>
                          <a:spcPts val="0"/>
                        </a:spcAft>
                        <a:buNone/>
                      </a:pPr>
                      <a:r>
                        <a:rPr b="0" lang="en-US" sz="1400" u="none" cap="none" strike="noStrike">
                          <a:latin typeface="Times New Roman"/>
                          <a:ea typeface="Times New Roman"/>
                          <a:cs typeface="Times New Roman"/>
                          <a:sym typeface="Times New Roman"/>
                        </a:rPr>
                        <a:t>3.MDETR</a:t>
                      </a:r>
                      <a:endParaRPr/>
                    </a:p>
                    <a:p>
                      <a:pPr indent="0" lvl="0" marL="0" marR="0" rtl="0" algn="just">
                        <a:lnSpc>
                          <a:spcPct val="100000"/>
                        </a:lnSpc>
                        <a:spcBef>
                          <a:spcPts val="0"/>
                        </a:spcBef>
                        <a:spcAft>
                          <a:spcPts val="0"/>
                        </a:spcAft>
                        <a:buNone/>
                      </a:pPr>
                      <a:r>
                        <a:rPr b="0" lang="en-US" sz="1400" u="none" cap="none" strike="noStrike">
                          <a:latin typeface="Times New Roman"/>
                          <a:ea typeface="Times New Roman"/>
                          <a:cs typeface="Times New Roman"/>
                          <a:sym typeface="Times New Roman"/>
                        </a:rPr>
                        <a:t>4.OmDet-Turbo</a:t>
                      </a:r>
                      <a:endParaRPr/>
                    </a:p>
                    <a:p>
                      <a:pPr indent="0" lvl="0" marL="0" marR="0" rtl="0" algn="just">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Clr>
                          <a:srgbClr val="000000"/>
                        </a:buClr>
                        <a:buSzPts val="1400"/>
                        <a:buFont typeface="Arial"/>
                        <a:buNone/>
                      </a:pPr>
                      <a:r>
                        <a:rPr b="0" lang="en-US" sz="1400" u="none" cap="none" strike="noStrike"/>
                        <a:t>1. </a:t>
                      </a:r>
                      <a:r>
                        <a:rPr lang="en-US"/>
                        <a:t>Performs weak for outdoor conditions.</a:t>
                      </a:r>
                      <a:endParaRPr/>
                    </a:p>
                    <a:p>
                      <a:pPr indent="0" lvl="0" marL="0" marR="0" rtl="0" algn="just">
                        <a:lnSpc>
                          <a:spcPct val="100000"/>
                        </a:lnSpc>
                        <a:spcBef>
                          <a:spcPts val="0"/>
                        </a:spcBef>
                        <a:spcAft>
                          <a:spcPts val="0"/>
                        </a:spcAft>
                        <a:buClr>
                          <a:srgbClr val="000000"/>
                        </a:buClr>
                        <a:buSzPts val="1400"/>
                        <a:buFont typeface="Arial"/>
                        <a:buNone/>
                      </a:pPr>
                      <a:r>
                        <a:rPr b="0" lang="en-US" sz="1400" u="none" cap="none" strike="noStrike"/>
                        <a:t>2. Models sometimes label normal things as unusual (false positives).</a:t>
                      </a:r>
                      <a:endParaRPr/>
                    </a:p>
                    <a:p>
                      <a:pPr indent="0" lvl="0" marL="0" marR="0" rtl="0" algn="just">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None/>
                      </a:pPr>
                      <a:r>
                        <a:rPr b="0" lang="en-US" sz="1400" u="none" cap="none" strike="noStrike">
                          <a:latin typeface="Times New Roman"/>
                          <a:ea typeface="Times New Roman"/>
                          <a:cs typeface="Times New Roman"/>
                          <a:sym typeface="Times New Roman"/>
                        </a:rPr>
                        <a:t>Grounding DINO performed best overall.</a:t>
                      </a:r>
                      <a:endParaRPr/>
                    </a:p>
                    <a:p>
                      <a:pPr indent="0" lvl="0" marL="0" marR="0" rtl="0" algn="just">
                        <a:lnSpc>
                          <a:spcPct val="100000"/>
                        </a:lnSpc>
                        <a:spcBef>
                          <a:spcPts val="0"/>
                        </a:spcBef>
                        <a:spcAft>
                          <a:spcPts val="0"/>
                        </a:spcAft>
                        <a:buNone/>
                      </a:pPr>
                      <a:r>
                        <a:t/>
                      </a:r>
                      <a:endParaRPr b="0" sz="1400" u="none" cap="none" strike="noStrike">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lang="en-US" sz="1400" u="none" cap="none" strike="noStrike">
                          <a:latin typeface="Times New Roman"/>
                          <a:ea typeface="Times New Roman"/>
                          <a:cs typeface="Times New Roman"/>
                          <a:sym typeface="Times New Roman"/>
                        </a:rPr>
                        <a:t>On RoadObstacle21 AP50..95 =48.3%</a:t>
                      </a:r>
                      <a:endParaRPr/>
                    </a:p>
                    <a:p>
                      <a:pPr indent="0" lvl="0" marL="0" marR="0" rtl="0" algn="just">
                        <a:lnSpc>
                          <a:spcPct val="100000"/>
                        </a:lnSpc>
                        <a:spcBef>
                          <a:spcPts val="0"/>
                        </a:spcBef>
                        <a:spcAft>
                          <a:spcPts val="0"/>
                        </a:spcAft>
                        <a:buNone/>
                      </a:pPr>
                      <a:r>
                        <a:t/>
                      </a:r>
                      <a:endParaRPr b="0" sz="1400" u="none" cap="none" strike="noStrike">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b="0" lang="en-US" sz="1400" u="none" cap="none" strike="noStrike">
                          <a:latin typeface="Times New Roman"/>
                          <a:ea typeface="Times New Roman"/>
                          <a:cs typeface="Times New Roman"/>
                          <a:sym typeface="Times New Roman"/>
                        </a:rPr>
                        <a:t>On LostAndFound AP50..95 = 25.4%</a:t>
                      </a:r>
                      <a:endParaRPr/>
                    </a:p>
                    <a:p>
                      <a:pPr indent="0" lvl="0" marL="0" marR="0" rtl="0" algn="just">
                        <a:lnSpc>
                          <a:spcPct val="100000"/>
                        </a:lnSpc>
                        <a:spcBef>
                          <a:spcPts val="0"/>
                        </a:spcBef>
                        <a:spcAft>
                          <a:spcPts val="0"/>
                        </a:spcAft>
                        <a:buNone/>
                      </a:pPr>
                      <a:r>
                        <a:t/>
                      </a:r>
                      <a:endParaRPr sz="1400" u="none" cap="none" strike="noStrike"/>
                    </a:p>
                  </a:txBody>
                  <a:tcPr marT="45725" marB="45725" marR="91450" marL="91450"/>
                </a:tc>
              </a:tr>
              <a:tr h="1757075">
                <a:tc>
                  <a:txBody>
                    <a:bodyPr/>
                    <a:lstStyle/>
                    <a:p>
                      <a:pPr indent="0" lvl="0" marL="0" marR="0" rtl="0" algn="just">
                        <a:lnSpc>
                          <a:spcPct val="100000"/>
                        </a:lnSpc>
                        <a:spcBef>
                          <a:spcPts val="0"/>
                        </a:spcBef>
                        <a:spcAft>
                          <a:spcPts val="0"/>
                        </a:spcAft>
                        <a:buNone/>
                      </a:pPr>
                      <a:r>
                        <a:rPr lang="en-US" sz="1400" u="none" cap="none" strike="noStrike"/>
                        <a:t>2.</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AffordanceLLM: Grounding Affordance from Vision-Language Models (2024)</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None/>
                      </a:pPr>
                      <a:r>
                        <a:rPr b="0" lang="en-US" sz="1400" u="none" cap="none" strike="noStrike"/>
                        <a:t>AGD20K </a:t>
                      </a:r>
                      <a:endParaRPr/>
                    </a:p>
                  </a:txBody>
                  <a:tcPr marT="45725" marB="45725" marR="91450" marL="91450"/>
                </a:tc>
                <a:tc>
                  <a:txBody>
                    <a:bodyPr/>
                    <a:lstStyle/>
                    <a:p>
                      <a:pPr indent="0" lvl="0" marL="0" marR="0" rtl="0" algn="just">
                        <a:lnSpc>
                          <a:spcPct val="100000"/>
                        </a:lnSpc>
                        <a:spcBef>
                          <a:spcPts val="0"/>
                        </a:spcBef>
                        <a:spcAft>
                          <a:spcPts val="0"/>
                        </a:spcAft>
                        <a:buNone/>
                      </a:pPr>
                      <a:r>
                        <a:rPr b="0" lang="en-US" sz="1400" u="none" cap="none" strike="noStrike"/>
                        <a:t>Use off-the-shelf VLMs to generate dense affordance heatmaps from text prompts</a:t>
                      </a:r>
                      <a:endParaRPr b="0" sz="1400" u="none" cap="none" strike="noStrike"/>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1. </a:t>
                      </a:r>
                      <a:r>
                        <a:rPr b="0" lang="en-US" sz="1400" u="none" cap="none" strike="noStrike"/>
                        <a:t>Performance drops on harder/unseen setting</a:t>
                      </a:r>
                      <a:r>
                        <a:rPr lang="en-US"/>
                        <a:t>s like fog, rain etc.</a:t>
                      </a:r>
                      <a:endParaRPr/>
                    </a:p>
                    <a:p>
                      <a:pPr indent="0" lvl="0" marL="0" marR="0" rtl="0" algn="just">
                        <a:lnSpc>
                          <a:spcPct val="100000"/>
                        </a:lnSpc>
                        <a:spcBef>
                          <a:spcPts val="0"/>
                        </a:spcBef>
                        <a:spcAft>
                          <a:spcPts val="0"/>
                        </a:spcAft>
                        <a:buNone/>
                      </a:pPr>
                      <a:r>
                        <a:t/>
                      </a:r>
                      <a:endParaRPr b="0" sz="1400" u="none" cap="none" strike="noStrike"/>
                    </a:p>
                  </a:txBody>
                  <a:tcPr marT="45725" marB="45725" marR="91450" marL="91450"/>
                </a:tc>
                <a:tc>
                  <a:txBody>
                    <a:bodyPr/>
                    <a:lstStyle/>
                    <a:p>
                      <a:pPr indent="0" lvl="0" marL="0" marR="0" rtl="0" algn="just">
                        <a:lnSpc>
                          <a:spcPct val="100000"/>
                        </a:lnSpc>
                        <a:spcBef>
                          <a:spcPts val="0"/>
                        </a:spcBef>
                        <a:spcAft>
                          <a:spcPts val="0"/>
                        </a:spcAft>
                        <a:buNone/>
                      </a:pPr>
                      <a:r>
                        <a:t/>
                      </a:r>
                      <a:endParaRPr sz="1400" u="none" cap="none" strike="noStrike"/>
                    </a:p>
                  </a:txBody>
                  <a:tcPr marT="45725" marB="45725" marR="91450" marL="91450"/>
                </a:tc>
              </a:tr>
            </a:tbl>
          </a:graphicData>
        </a:graphic>
      </p:graphicFrame>
      <p:graphicFrame>
        <p:nvGraphicFramePr>
          <p:cNvPr id="169" name="Google Shape;169;p24"/>
          <p:cNvGraphicFramePr/>
          <p:nvPr/>
        </p:nvGraphicFramePr>
        <p:xfrm>
          <a:off x="6989254" y="4647501"/>
          <a:ext cx="3000000" cy="3000000"/>
        </p:xfrm>
        <a:graphic>
          <a:graphicData uri="http://schemas.openxmlformats.org/drawingml/2006/table">
            <a:tbl>
              <a:tblPr bandRow="1" firstRow="1">
                <a:noFill/>
                <a:tableStyleId>{22B81663-2ADE-4422-954A-A9CC8490E308}</a:tableStyleId>
              </a:tblPr>
              <a:tblGrid>
                <a:gridCol w="597225"/>
                <a:gridCol w="485125"/>
                <a:gridCol w="466275"/>
                <a:gridCol w="505550"/>
              </a:tblGrid>
              <a:tr h="256200">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Split</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KLD</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SIM</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NSS</a:t>
                      </a:r>
                      <a:endParaRPr/>
                    </a:p>
                  </a:txBody>
                  <a:tcPr marT="45725" marB="45725" marR="91450" marL="91450"/>
                </a:tc>
              </a:tr>
              <a:tr h="447150">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Easy</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0.88-1.10</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0.52-0.58</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2.0-2.2</a:t>
                      </a:r>
                      <a:endParaRPr/>
                    </a:p>
                  </a:txBody>
                  <a:tcPr marT="45725" marB="45725" marR="91450" marL="91450"/>
                </a:tc>
              </a:tr>
              <a:tr h="341600">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Seen</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1.20-1.40</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0.45-0.50</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1.4-1.6</a:t>
                      </a:r>
                      <a:endParaRPr/>
                    </a:p>
                  </a:txBody>
                  <a:tcPr marT="45725" marB="45725" marR="91450" marL="91450"/>
                </a:tc>
              </a:tr>
              <a:tr h="341600">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Unseen</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1.60-1.70</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0.35-0.38</a:t>
                      </a:r>
                      <a:endParaRPr/>
                    </a:p>
                  </a:txBody>
                  <a:tcPr marT="45725" marB="45725" marR="91450" marL="91450"/>
                </a:tc>
                <a:tc>
                  <a:txBody>
                    <a:bodyPr/>
                    <a:lstStyle/>
                    <a:p>
                      <a:pPr indent="0" lvl="0" marL="0" marR="0" rtl="0" algn="l">
                        <a:lnSpc>
                          <a:spcPct val="100000"/>
                        </a:lnSpc>
                        <a:spcBef>
                          <a:spcPts val="0"/>
                        </a:spcBef>
                        <a:spcAft>
                          <a:spcPts val="0"/>
                        </a:spcAft>
                        <a:buNone/>
                      </a:pPr>
                      <a:r>
                        <a:rPr lang="en-US" sz="1000" u="none" cap="none" strike="noStrike">
                          <a:latin typeface="Times New Roman"/>
                          <a:ea typeface="Times New Roman"/>
                          <a:cs typeface="Times New Roman"/>
                          <a:sym typeface="Times New Roman"/>
                        </a:rPr>
                        <a:t>1.0-1.1</a:t>
                      </a:r>
                      <a:endParaRPr/>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cxnSp>
        <p:nvCxnSpPr>
          <p:cNvPr id="174" name="Google Shape;174;p25"/>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175" name="Google Shape;175;p25"/>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6" name="Google Shape;176;p25"/>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177" name="Google Shape;177;p25"/>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178" name="Google Shape;178;p25"/>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6</a:t>
            </a:r>
            <a:endParaRPr/>
          </a:p>
        </p:txBody>
      </p:sp>
      <p:sp>
        <p:nvSpPr>
          <p:cNvPr id="179" name="Google Shape;179;p25"/>
          <p:cNvSpPr/>
          <p:nvPr/>
        </p:nvSpPr>
        <p:spPr>
          <a:xfrm>
            <a:off x="432243" y="1004454"/>
            <a:ext cx="2438400"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chemeClr val="dk1"/>
                </a:solidFill>
                <a:latin typeface="Times New Roman"/>
                <a:ea typeface="Times New Roman"/>
                <a:cs typeface="Times New Roman"/>
                <a:sym typeface="Times New Roman"/>
              </a:rPr>
              <a:t>Literature Survey:</a:t>
            </a:r>
            <a:endParaRPr b="0" i="0" sz="2100" u="none" cap="none" strike="noStrike">
              <a:solidFill>
                <a:schemeClr val="dk1"/>
              </a:solidFill>
              <a:latin typeface="Times New Roman"/>
              <a:ea typeface="Times New Roman"/>
              <a:cs typeface="Times New Roman"/>
              <a:sym typeface="Times New Roman"/>
            </a:endParaRPr>
          </a:p>
        </p:txBody>
      </p:sp>
      <p:pic>
        <p:nvPicPr>
          <p:cNvPr descr="kle tech logo" id="180" name="Google Shape;180;p25"/>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181" name="Google Shape;181;p25"/>
          <p:cNvGrpSpPr/>
          <p:nvPr/>
        </p:nvGrpSpPr>
        <p:grpSpPr>
          <a:xfrm>
            <a:off x="549088" y="45376"/>
            <a:ext cx="3297243" cy="610262"/>
            <a:chOff x="533400" y="17929"/>
            <a:chExt cx="3297243" cy="660782"/>
          </a:xfrm>
        </p:grpSpPr>
        <p:pic>
          <p:nvPicPr>
            <p:cNvPr id="182" name="Google Shape;182;p25"/>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183" name="Google Shape;183;p25"/>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184" name="Google Shape;184;p25"/>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graphicFrame>
        <p:nvGraphicFramePr>
          <p:cNvPr id="185" name="Google Shape;185;p25"/>
          <p:cNvGraphicFramePr/>
          <p:nvPr/>
        </p:nvGraphicFramePr>
        <p:xfrm>
          <a:off x="109728" y="1780375"/>
          <a:ext cx="3000000" cy="3000000"/>
        </p:xfrm>
        <a:graphic>
          <a:graphicData uri="http://schemas.openxmlformats.org/drawingml/2006/table">
            <a:tbl>
              <a:tblPr bandRow="1" firstRow="1">
                <a:noFill/>
                <a:tableStyleId>{22B81663-2ADE-4422-954A-A9CC8490E308}</a:tableStyleId>
              </a:tblPr>
              <a:tblGrid>
                <a:gridCol w="664775"/>
                <a:gridCol w="1413450"/>
                <a:gridCol w="1039875"/>
                <a:gridCol w="1709925"/>
                <a:gridCol w="2005650"/>
                <a:gridCol w="2103125"/>
              </a:tblGrid>
              <a:tr h="520325">
                <a:tc>
                  <a:txBody>
                    <a:bodyPr/>
                    <a:lstStyle/>
                    <a:p>
                      <a:pPr indent="0" lvl="0" marL="0" marR="0" rtl="0" algn="just">
                        <a:lnSpc>
                          <a:spcPct val="100000"/>
                        </a:lnSpc>
                        <a:spcBef>
                          <a:spcPts val="0"/>
                        </a:spcBef>
                        <a:spcAft>
                          <a:spcPts val="0"/>
                        </a:spcAft>
                        <a:buNone/>
                      </a:pPr>
                      <a:r>
                        <a:rPr lang="en-US" sz="1400" u="none" cap="none" strike="noStrike"/>
                        <a:t>Sl.No</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Title</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Dataset</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Methodology</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Gap(s)</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Results</a:t>
                      </a:r>
                      <a:endParaRPr/>
                    </a:p>
                  </a:txBody>
                  <a:tcPr marT="45725" marB="45725" marR="91450" marL="91450"/>
                </a:tc>
              </a:tr>
              <a:tr h="1731825">
                <a:tc>
                  <a:txBody>
                    <a:bodyPr/>
                    <a:lstStyle/>
                    <a:p>
                      <a:pPr indent="0" lvl="0" marL="0" marR="0" rtl="0" algn="just">
                        <a:lnSpc>
                          <a:spcPct val="100000"/>
                        </a:lnSpc>
                        <a:spcBef>
                          <a:spcPts val="0"/>
                        </a:spcBef>
                        <a:spcAft>
                          <a:spcPts val="0"/>
                        </a:spcAft>
                        <a:buNone/>
                      </a:pPr>
                      <a:r>
                        <a:rPr lang="en-US" sz="1400" u="none" cap="none" strike="noStrike"/>
                        <a:t>3.</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One-Shot Open Affordance Learning with Foundation Models (2023)</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None/>
                      </a:pPr>
                      <a:r>
                        <a:rPr b="0" lang="en-US" sz="1400" u="none" cap="none" strike="noStrike"/>
                        <a:t>AGD20K</a:t>
                      </a:r>
                      <a:endParaRPr/>
                    </a:p>
                    <a:p>
                      <a:pPr indent="0" lvl="0" marL="0" marR="0" rtl="0" algn="just">
                        <a:lnSpc>
                          <a:spcPct val="100000"/>
                        </a:lnSpc>
                        <a:spcBef>
                          <a:spcPts val="0"/>
                        </a:spcBef>
                        <a:spcAft>
                          <a:spcPts val="0"/>
                        </a:spcAft>
                        <a:buNone/>
                      </a:pPr>
                      <a:r>
                        <a:rPr b="0" lang="en-US" sz="1400" u="none" cap="none" strike="noStrike"/>
                        <a:t>UMD</a:t>
                      </a:r>
                      <a:r>
                        <a:rPr lang="en-US" sz="1400" u="none" cap="none" strike="noStrike"/>
                        <a:t> </a:t>
                      </a:r>
                      <a:endParaRPr b="0"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just">
                        <a:lnSpc>
                          <a:spcPct val="100000"/>
                        </a:lnSpc>
                        <a:spcBef>
                          <a:spcPts val="0"/>
                        </a:spcBef>
                        <a:spcAft>
                          <a:spcPts val="0"/>
                        </a:spcAft>
                        <a:buNone/>
                      </a:pPr>
                      <a:r>
                        <a:rPr b="0" lang="en-US" sz="1400" u="none" cap="none" strike="noStrike">
                          <a:latin typeface="Times New Roman"/>
                          <a:ea typeface="Times New Roman"/>
                          <a:cs typeface="Times New Roman"/>
                          <a:sym typeface="Times New Roman"/>
                        </a:rPr>
                        <a:t>Train with only one annotated image per base object class; at test time, do zero-shot affordance segmentation on novel objects and even novel words </a:t>
                      </a:r>
                      <a:endParaRPr b="0"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just">
                        <a:lnSpc>
                          <a:spcPct val="100000"/>
                        </a:lnSpc>
                        <a:spcBef>
                          <a:spcPts val="0"/>
                        </a:spcBef>
                        <a:spcAft>
                          <a:spcPts val="0"/>
                        </a:spcAft>
                        <a:buClr>
                          <a:srgbClr val="000000"/>
                        </a:buClr>
                        <a:buSzPts val="1400"/>
                        <a:buFont typeface="Arial"/>
                        <a:buNone/>
                      </a:pPr>
                      <a:r>
                        <a:rPr b="0" lang="en-US" sz="1400" u="none" cap="none" strike="noStrike">
                          <a:latin typeface="Times New Roman"/>
                          <a:ea typeface="Times New Roman"/>
                          <a:cs typeface="Times New Roman"/>
                          <a:sym typeface="Times New Roman"/>
                        </a:rPr>
                        <a:t>1.Choice of the one-shot example matters (bad lighting/occlusion hurts).</a:t>
                      </a:r>
                      <a:endParaRPr/>
                    </a:p>
                    <a:p>
                      <a:pPr indent="0" lvl="0" marL="0" marR="0" rtl="0" algn="just">
                        <a:lnSpc>
                          <a:spcPct val="100000"/>
                        </a:lnSpc>
                        <a:spcBef>
                          <a:spcPts val="0"/>
                        </a:spcBef>
                        <a:spcAft>
                          <a:spcPts val="0"/>
                        </a:spcAft>
                        <a:buClr>
                          <a:srgbClr val="000000"/>
                        </a:buClr>
                        <a:buSzPts val="1400"/>
                        <a:buFont typeface="Arial"/>
                        <a:buNone/>
                      </a:pPr>
                      <a:r>
                        <a:rPr b="0" lang="en-US" sz="1400" u="none" cap="none" strike="noStrike">
                          <a:latin typeface="Times New Roman"/>
                          <a:ea typeface="Times New Roman"/>
                          <a:cs typeface="Times New Roman"/>
                          <a:sym typeface="Times New Roman"/>
                        </a:rPr>
                        <a:t>2.</a:t>
                      </a:r>
                      <a:r>
                        <a:rPr lang="en-US">
                          <a:latin typeface="Times New Roman"/>
                          <a:ea typeface="Times New Roman"/>
                          <a:cs typeface="Times New Roman"/>
                          <a:sym typeface="Times New Roman"/>
                        </a:rPr>
                        <a:t>Depends on one sample, poor mask quality</a:t>
                      </a:r>
                      <a:endParaRPr b="0" sz="1400" u="none" cap="none" strike="noStrike">
                        <a:latin typeface="Times New Roman"/>
                        <a:ea typeface="Times New Roman"/>
                        <a:cs typeface="Times New Roman"/>
                        <a:sym typeface="Times New Roman"/>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With 1 example/class, matches or beats baselines; close to full supervision with &lt;1% data.</a:t>
                      </a:r>
                      <a:endParaRPr sz="1400" u="none" cap="none" strike="noStrike"/>
                    </a:p>
                  </a:txBody>
                  <a:tcPr marT="45725" marB="45725" marR="91450" marL="91450"/>
                </a:tc>
              </a:tr>
              <a:tr h="1648500">
                <a:tc>
                  <a:txBody>
                    <a:bodyPr/>
                    <a:lstStyle/>
                    <a:p>
                      <a:pPr indent="0" lvl="0" marL="0" marR="0" rtl="0" algn="just">
                        <a:lnSpc>
                          <a:spcPct val="100000"/>
                        </a:lnSpc>
                        <a:spcBef>
                          <a:spcPts val="0"/>
                        </a:spcBef>
                        <a:spcAft>
                          <a:spcPts val="0"/>
                        </a:spcAft>
                        <a:buNone/>
                      </a:pPr>
                      <a:r>
                        <a:rPr lang="en-US" sz="1400" u="none" cap="none" strike="noStrike"/>
                        <a:t>4.</a:t>
                      </a:r>
                      <a:endParaRPr/>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YOLO-World: Real-Time Open-Vocabulary Object Detection (2024)</a:t>
                      </a:r>
                      <a:endParaRPr sz="1400" u="none" cap="none" strike="noStrike"/>
                    </a:p>
                  </a:txBody>
                  <a:tcPr marT="45725" marB="45725" marR="91450" marL="91450"/>
                </a:tc>
                <a:tc>
                  <a:txBody>
                    <a:bodyPr/>
                    <a:lstStyle/>
                    <a:p>
                      <a:pPr indent="0" lvl="0" marL="0" marR="0" rtl="0" algn="just">
                        <a:lnSpc>
                          <a:spcPct val="100000"/>
                        </a:lnSpc>
                        <a:spcBef>
                          <a:spcPts val="0"/>
                        </a:spcBef>
                        <a:spcAft>
                          <a:spcPts val="0"/>
                        </a:spcAft>
                        <a:buNone/>
                      </a:pPr>
                      <a:r>
                        <a:rPr b="0" lang="en-US" sz="1400" u="none" cap="none" strike="noStrike"/>
                        <a:t>LVIS</a:t>
                      </a:r>
                      <a:endParaRPr/>
                    </a:p>
                    <a:p>
                      <a:pPr indent="0" lvl="0" marL="0" marR="0" rtl="0" algn="just">
                        <a:lnSpc>
                          <a:spcPct val="100000"/>
                        </a:lnSpc>
                        <a:spcBef>
                          <a:spcPts val="0"/>
                        </a:spcBef>
                        <a:spcAft>
                          <a:spcPts val="0"/>
                        </a:spcAft>
                        <a:buNone/>
                      </a:pPr>
                      <a:r>
                        <a:rPr b="0" lang="en-US" sz="1400" u="none" cap="none" strike="noStrike"/>
                        <a:t>COCO</a:t>
                      </a:r>
                      <a:endParaRPr/>
                    </a:p>
                  </a:txBody>
                  <a:tcPr marT="45725" marB="45725" marR="91450" marL="91450"/>
                </a:tc>
                <a:tc>
                  <a:txBody>
                    <a:bodyPr/>
                    <a:lstStyle/>
                    <a:p>
                      <a:pPr indent="0" lvl="0" marL="0" marR="0" rtl="0" algn="just">
                        <a:lnSpc>
                          <a:spcPct val="100000"/>
                        </a:lnSpc>
                        <a:spcBef>
                          <a:spcPts val="0"/>
                        </a:spcBef>
                        <a:spcAft>
                          <a:spcPts val="0"/>
                        </a:spcAft>
                        <a:buClr>
                          <a:srgbClr val="000000"/>
                        </a:buClr>
                        <a:buSzPts val="1400"/>
                        <a:buFont typeface="Arial"/>
                        <a:buNone/>
                      </a:pPr>
                      <a:r>
                        <a:rPr b="0" lang="en-US" sz="1400" u="none" cap="none" strike="noStrike">
                          <a:latin typeface="Times New Roman"/>
                          <a:ea typeface="Times New Roman"/>
                          <a:cs typeface="Times New Roman"/>
                          <a:sym typeface="Times New Roman"/>
                        </a:rPr>
                        <a:t>YOLO-speed with a CLIP text encoder and a decoupled classification/localization design, so you can detect any text-described class in real time.</a:t>
                      </a:r>
                      <a:endParaRPr b="0" sz="1400" u="none" cap="none" strike="noStrike">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sz="1400" u="none" cap="none" strike="noStrike"/>
                    </a:p>
                  </a:txBody>
                  <a:tcPr marT="45725" marB="45725" marR="91450" marL="91450"/>
                </a:tc>
                <a:tc>
                  <a:txBody>
                    <a:bodyPr/>
                    <a:lstStyle/>
                    <a:p>
                      <a:pPr indent="0" lvl="0" marL="0" marR="0" rtl="0" algn="just">
                        <a:lnSpc>
                          <a:spcPct val="100000"/>
                        </a:lnSpc>
                        <a:spcBef>
                          <a:spcPts val="0"/>
                        </a:spcBef>
                        <a:spcAft>
                          <a:spcPts val="0"/>
                        </a:spcAft>
                        <a:buNone/>
                      </a:pPr>
                      <a:r>
                        <a:rPr lang="en-US" sz="1400" u="none" cap="none" strike="noStrike"/>
                        <a:t>1.Losing zero-shot after full fine-tune due to which catastrophic overfitting happens.</a:t>
                      </a:r>
                      <a:endParaRPr sz="1400" u="none" cap="none" strike="noStrike"/>
                    </a:p>
                    <a:p>
                      <a:pPr indent="0" lvl="0" marL="0" marR="0" rtl="0" algn="just">
                        <a:lnSpc>
                          <a:spcPct val="100000"/>
                        </a:lnSpc>
                        <a:spcBef>
                          <a:spcPts val="0"/>
                        </a:spcBef>
                        <a:spcAft>
                          <a:spcPts val="0"/>
                        </a:spcAft>
                        <a:buNone/>
                      </a:pPr>
                      <a:r>
                        <a:rPr lang="en-US"/>
                        <a:t>2. Detects only object names, not affordances</a:t>
                      </a:r>
                      <a:endParaRPr/>
                    </a:p>
                  </a:txBody>
                  <a:tcPr marT="45725" marB="45725" marR="91450" marL="91450"/>
                </a:tc>
                <a:tc>
                  <a:txBody>
                    <a:bodyPr/>
                    <a:lstStyle/>
                    <a:p>
                      <a:pPr indent="0" lvl="0" marL="0" marR="0" rtl="0" algn="just">
                        <a:lnSpc>
                          <a:spcPct val="100000"/>
                        </a:lnSpc>
                        <a:spcBef>
                          <a:spcPts val="0"/>
                        </a:spcBef>
                        <a:spcAft>
                          <a:spcPts val="0"/>
                        </a:spcAft>
                        <a:buClr>
                          <a:srgbClr val="000000"/>
                        </a:buClr>
                        <a:buSzPts val="1400"/>
                        <a:buFont typeface="Arial"/>
                        <a:buNone/>
                      </a:pPr>
                      <a:r>
                        <a:rPr lang="en-US" sz="1400" u="none" cap="none" strike="noStrike"/>
                        <a:t>Real-time open-vocab detection AP 34.1 on LVIS; fine-tune boosts closed-set but hurts zero-shot.</a:t>
                      </a:r>
                      <a:endParaRPr sz="1400" u="none" cap="none" strike="noStrike"/>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cxnSp>
        <p:nvCxnSpPr>
          <p:cNvPr id="190" name="Google Shape;190;p26"/>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191" name="Google Shape;191;p26"/>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2" name="Google Shape;192;p26"/>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193" name="Google Shape;193;p26"/>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194" name="Google Shape;194;p26"/>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7</a:t>
            </a:r>
            <a:endParaRPr/>
          </a:p>
        </p:txBody>
      </p:sp>
      <p:pic>
        <p:nvPicPr>
          <p:cNvPr descr="kle tech logo" id="195" name="Google Shape;195;p26"/>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196" name="Google Shape;196;p26"/>
          <p:cNvGrpSpPr/>
          <p:nvPr/>
        </p:nvGrpSpPr>
        <p:grpSpPr>
          <a:xfrm>
            <a:off x="549088" y="45376"/>
            <a:ext cx="3297243" cy="610262"/>
            <a:chOff x="533400" y="17929"/>
            <a:chExt cx="3297243" cy="660782"/>
          </a:xfrm>
        </p:grpSpPr>
        <p:pic>
          <p:nvPicPr>
            <p:cNvPr id="197" name="Google Shape;197;p26"/>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198" name="Google Shape;198;p26"/>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199" name="Google Shape;199;p26"/>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200" name="Google Shape;200;p26"/>
          <p:cNvSpPr txBox="1"/>
          <p:nvPr/>
        </p:nvSpPr>
        <p:spPr>
          <a:xfrm>
            <a:off x="570196" y="2240436"/>
            <a:ext cx="8001000" cy="29289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SzPts val="1800"/>
              <a:buAutoNum type="arabicPeriod"/>
            </a:pPr>
            <a:r>
              <a:rPr lang="en-US" sz="1800">
                <a:solidFill>
                  <a:schemeClr val="dk1"/>
                </a:solidFill>
                <a:latin typeface="Times New Roman"/>
                <a:ea typeface="Times New Roman"/>
                <a:cs typeface="Times New Roman"/>
                <a:sym typeface="Times New Roman"/>
              </a:rPr>
              <a:t>To design affordance-focused textual prompts that guide the vision–language model toward identifying actionable scene categories (such as drivable, crossable, and obstructed regions) relevant for autonomous navigation.</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SzPts val="1800"/>
              <a:buAutoNum type="arabicPeriod"/>
            </a:pPr>
            <a:r>
              <a:rPr lang="en-US" sz="1800">
                <a:solidFill>
                  <a:schemeClr val="dk1"/>
                </a:solidFill>
                <a:latin typeface="Times New Roman"/>
                <a:ea typeface="Times New Roman"/>
                <a:cs typeface="Times New Roman"/>
                <a:sym typeface="Times New Roman"/>
              </a:rPr>
              <a:t>To achieve precise affordance localization by accurately detecting and segmenting the exact spatial regions in a scene that correspond to each actionable affordance.</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SzPts val="1800"/>
              <a:buAutoNum type="arabicPeriod"/>
            </a:pPr>
            <a:r>
              <a:rPr lang="en-US" sz="1800">
                <a:solidFill>
                  <a:schemeClr val="dk1"/>
                </a:solidFill>
                <a:latin typeface="Times New Roman"/>
                <a:ea typeface="Times New Roman"/>
                <a:cs typeface="Times New Roman"/>
                <a:sym typeface="Times New Roman"/>
              </a:rPr>
              <a:t>To evaluate the robustness of the affordance detection model under adverse weather and challenging lighting conditions (e.g., fog, rain, low illumination), analyzing its reliability for open-world perception scenarios.</a:t>
            </a:r>
            <a:endParaRPr sz="1800">
              <a:solidFill>
                <a:schemeClr val="dk1"/>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01" name="Google Shape;201;p26"/>
          <p:cNvSpPr/>
          <p:nvPr/>
        </p:nvSpPr>
        <p:spPr>
          <a:xfrm>
            <a:off x="455896" y="1271569"/>
            <a:ext cx="2588100"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chemeClr val="dk1"/>
                </a:solidFill>
                <a:latin typeface="Times New Roman"/>
                <a:ea typeface="Times New Roman"/>
                <a:cs typeface="Times New Roman"/>
                <a:sym typeface="Times New Roman"/>
              </a:rPr>
              <a:t>Objectives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cxnSp>
        <p:nvCxnSpPr>
          <p:cNvPr id="206" name="Google Shape;206;p27"/>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207" name="Google Shape;207;p27"/>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27"/>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209" name="Google Shape;209;p27"/>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210" name="Google Shape;210;p27"/>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8</a:t>
            </a:r>
            <a:endParaRPr sz="1200">
              <a:solidFill>
                <a:schemeClr val="dk1"/>
              </a:solidFill>
              <a:latin typeface="Times New Roman"/>
              <a:ea typeface="Times New Roman"/>
              <a:cs typeface="Times New Roman"/>
              <a:sym typeface="Times New Roman"/>
            </a:endParaRPr>
          </a:p>
        </p:txBody>
      </p:sp>
      <p:pic>
        <p:nvPicPr>
          <p:cNvPr descr="kle tech logo" id="211" name="Google Shape;211;p27"/>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212" name="Google Shape;212;p27"/>
          <p:cNvGrpSpPr/>
          <p:nvPr/>
        </p:nvGrpSpPr>
        <p:grpSpPr>
          <a:xfrm>
            <a:off x="549088" y="45376"/>
            <a:ext cx="3297243" cy="610262"/>
            <a:chOff x="533400" y="17929"/>
            <a:chExt cx="3297243" cy="660782"/>
          </a:xfrm>
        </p:grpSpPr>
        <p:pic>
          <p:nvPicPr>
            <p:cNvPr id="213" name="Google Shape;213;p27"/>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214" name="Google Shape;214;p27"/>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215" name="Google Shape;215;p27"/>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216" name="Google Shape;216;p27"/>
          <p:cNvSpPr/>
          <p:nvPr/>
        </p:nvSpPr>
        <p:spPr>
          <a:xfrm>
            <a:off x="436846" y="1138219"/>
            <a:ext cx="3702525"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chemeClr val="dk1"/>
                </a:solidFill>
                <a:latin typeface="Times New Roman"/>
                <a:ea typeface="Times New Roman"/>
                <a:cs typeface="Times New Roman"/>
                <a:sym typeface="Times New Roman"/>
              </a:rPr>
              <a:t>CLIP:</a:t>
            </a:r>
            <a:endParaRPr b="0" i="0" sz="1400" u="none" cap="none" strike="noStrike">
              <a:solidFill>
                <a:schemeClr val="dk1"/>
              </a:solidFill>
              <a:latin typeface="Arial"/>
              <a:ea typeface="Arial"/>
              <a:cs typeface="Arial"/>
              <a:sym typeface="Arial"/>
            </a:endParaRPr>
          </a:p>
        </p:txBody>
      </p:sp>
      <p:sp>
        <p:nvSpPr>
          <p:cNvPr id="217" name="Google Shape;217;p27"/>
          <p:cNvSpPr txBox="1"/>
          <p:nvPr/>
        </p:nvSpPr>
        <p:spPr>
          <a:xfrm>
            <a:off x="438150" y="2128837"/>
            <a:ext cx="8348700" cy="317070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CLIP stands for Contrastive Language–Image Pretraining, which is developed by OPEN-AI.</a:t>
            </a:r>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It is pretrained with 400 million Image-text pairs.</a:t>
            </a:r>
            <a:endParaRPr b="0" i="0" sz="20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It has two parts — an image encoder (like a vision model) and a text encoder (like a language model).</a:t>
            </a:r>
            <a:endParaRPr b="0" i="0" sz="20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Both turn their inputs (image and text) into feature vectors (numerical summaries).</a:t>
            </a:r>
            <a:endParaRPr b="0" i="0" sz="20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CLIP then compares these vectors — if the image and text describe the same thing, their vectors will be close together.</a:t>
            </a:r>
            <a:endParaRPr b="0" i="0" sz="2000" u="none" cap="none" strike="noStrike">
              <a:solidFill>
                <a:srgbClr val="000000"/>
              </a:solidFill>
              <a:latin typeface="Times New Roman"/>
              <a:ea typeface="Times New Roman"/>
              <a:cs typeface="Times New Roman"/>
              <a:sym typeface="Times New Roman"/>
            </a:endParaRPr>
          </a:p>
          <a:p>
            <a:pPr indent="-158750" lvl="0" marL="28575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cxnSp>
        <p:nvCxnSpPr>
          <p:cNvPr id="222" name="Google Shape;222;p28"/>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223" name="Google Shape;223;p28"/>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28"/>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225" name="Google Shape;225;p28"/>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226" name="Google Shape;226;p28"/>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9</a:t>
            </a:r>
            <a:endParaRPr sz="1200">
              <a:solidFill>
                <a:schemeClr val="dk1"/>
              </a:solidFill>
              <a:latin typeface="Times New Roman"/>
              <a:ea typeface="Times New Roman"/>
              <a:cs typeface="Times New Roman"/>
              <a:sym typeface="Times New Roman"/>
            </a:endParaRPr>
          </a:p>
        </p:txBody>
      </p:sp>
      <p:pic>
        <p:nvPicPr>
          <p:cNvPr descr="kle tech logo" id="227" name="Google Shape;227;p28"/>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228" name="Google Shape;228;p28"/>
          <p:cNvGrpSpPr/>
          <p:nvPr/>
        </p:nvGrpSpPr>
        <p:grpSpPr>
          <a:xfrm>
            <a:off x="549088" y="45376"/>
            <a:ext cx="3297243" cy="610262"/>
            <a:chOff x="533400" y="17929"/>
            <a:chExt cx="3297243" cy="660782"/>
          </a:xfrm>
        </p:grpSpPr>
        <p:pic>
          <p:nvPicPr>
            <p:cNvPr id="229" name="Google Shape;229;p28"/>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230" name="Google Shape;230;p28"/>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231" name="Google Shape;231;p28"/>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232" name="Google Shape;232;p28"/>
          <p:cNvSpPr/>
          <p:nvPr/>
        </p:nvSpPr>
        <p:spPr>
          <a:xfrm>
            <a:off x="436846" y="1138219"/>
            <a:ext cx="3702525"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chemeClr val="dk1"/>
                </a:solidFill>
                <a:latin typeface="Times New Roman"/>
                <a:ea typeface="Times New Roman"/>
                <a:cs typeface="Times New Roman"/>
                <a:sym typeface="Times New Roman"/>
              </a:rPr>
              <a:t>CLIP:</a:t>
            </a:r>
            <a:endParaRPr b="0" i="0" sz="1400" u="none" cap="none" strike="noStrike">
              <a:solidFill>
                <a:schemeClr val="dk1"/>
              </a:solidFill>
              <a:latin typeface="Arial"/>
              <a:ea typeface="Arial"/>
              <a:cs typeface="Arial"/>
              <a:sym typeface="Arial"/>
            </a:endParaRPr>
          </a:p>
        </p:txBody>
      </p:sp>
      <p:pic>
        <p:nvPicPr>
          <p:cNvPr descr="A diagram of a person with a picture&#10;&#10;AI-generated content may be incorrect." id="233" name="Google Shape;233;p28"/>
          <p:cNvPicPr preferRelativeResize="0"/>
          <p:nvPr/>
        </p:nvPicPr>
        <p:blipFill rotWithShape="1">
          <a:blip r:embed="rId5">
            <a:alphaModFix/>
          </a:blip>
          <a:srcRect b="0" l="0" r="0" t="0"/>
          <a:stretch/>
        </p:blipFill>
        <p:spPr>
          <a:xfrm>
            <a:off x="1171575" y="1971675"/>
            <a:ext cx="6486525" cy="3295650"/>
          </a:xfrm>
          <a:prstGeom prst="rect">
            <a:avLst/>
          </a:prstGeom>
          <a:noFill/>
          <a:ln>
            <a:noFill/>
          </a:ln>
        </p:spPr>
      </p:pic>
      <p:graphicFrame>
        <p:nvGraphicFramePr>
          <p:cNvPr id="234" name="Google Shape;234;p28"/>
          <p:cNvGraphicFramePr/>
          <p:nvPr/>
        </p:nvGraphicFramePr>
        <p:xfrm>
          <a:off x="1171575" y="5610225"/>
          <a:ext cx="3000000" cy="3000000"/>
        </p:xfrm>
        <a:graphic>
          <a:graphicData uri="http://schemas.openxmlformats.org/drawingml/2006/table">
            <a:tbl>
              <a:tblPr bandRow="1">
                <a:noFill/>
                <a:tableStyleId>{22B81663-2ADE-4422-954A-A9CC8490E308}</a:tableStyleId>
              </a:tblPr>
              <a:tblGrid>
                <a:gridCol w="7589050"/>
              </a:tblGrid>
              <a:tr h="5688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Arial"/>
                          <a:ea typeface="Arial"/>
                          <a:cs typeface="Arial"/>
                          <a:sym typeface="Arial"/>
                        </a:rPr>
                        <a:t>Source: Radford, Alec, et al. "Learning transferable visual models from natural language supervision." </a:t>
                      </a:r>
                      <a:r>
                        <a:rPr i="1" lang="en-US" sz="1400" u="none" cap="none" strike="noStrike">
                          <a:latin typeface="Arial"/>
                          <a:ea typeface="Arial"/>
                          <a:cs typeface="Arial"/>
                          <a:sym typeface="Arial"/>
                        </a:rPr>
                        <a:t>International conference on machine learning</a:t>
                      </a:r>
                      <a:r>
                        <a:rPr lang="en-US" sz="1400" u="none" cap="none" strike="noStrike">
                          <a:latin typeface="Arial"/>
                          <a:ea typeface="Arial"/>
                          <a:cs typeface="Arial"/>
                          <a:sym typeface="Arial"/>
                        </a:rPr>
                        <a:t>. PmLR, 2021.</a:t>
                      </a:r>
                      <a:endParaRPr/>
                    </a:p>
                  </a:txBody>
                  <a:tcPr marT="76200" marB="762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2632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Arial"/>
                        <a:ea typeface="Arial"/>
                        <a:cs typeface="Arial"/>
                        <a:sym typeface="Arial"/>
                      </a:endParaRPr>
                    </a:p>
                  </a:txBody>
                  <a:tcPr marT="76200" marB="76200"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cxnSp>
        <p:nvCxnSpPr>
          <p:cNvPr id="239" name="Google Shape;239;p29"/>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240" name="Google Shape;240;p29"/>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1" name="Google Shape;241;p29"/>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242" name="Google Shape;242;p29"/>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243" name="Google Shape;243;p29"/>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10</a:t>
            </a:r>
            <a:endParaRPr/>
          </a:p>
        </p:txBody>
      </p:sp>
      <p:pic>
        <p:nvPicPr>
          <p:cNvPr descr="kle tech logo" id="244" name="Google Shape;244;p29"/>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245" name="Google Shape;245;p29"/>
          <p:cNvGrpSpPr/>
          <p:nvPr/>
        </p:nvGrpSpPr>
        <p:grpSpPr>
          <a:xfrm>
            <a:off x="549088" y="45376"/>
            <a:ext cx="3297243" cy="610262"/>
            <a:chOff x="533400" y="17929"/>
            <a:chExt cx="3297243" cy="660782"/>
          </a:xfrm>
        </p:grpSpPr>
        <p:pic>
          <p:nvPicPr>
            <p:cNvPr id="246" name="Google Shape;246;p29"/>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247" name="Google Shape;247;p29"/>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248" name="Google Shape;248;p29"/>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249" name="Google Shape;249;p29"/>
          <p:cNvSpPr/>
          <p:nvPr/>
        </p:nvSpPr>
        <p:spPr>
          <a:xfrm>
            <a:off x="436846" y="1138219"/>
            <a:ext cx="3702525"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chemeClr val="dk1"/>
                </a:solidFill>
                <a:latin typeface="Times New Roman"/>
                <a:ea typeface="Times New Roman"/>
                <a:cs typeface="Times New Roman"/>
                <a:sym typeface="Times New Roman"/>
              </a:rPr>
              <a:t>CLIPSeg:</a:t>
            </a:r>
            <a:endParaRPr b="0" i="0" sz="1400" u="none" cap="none" strike="noStrike">
              <a:solidFill>
                <a:schemeClr val="dk1"/>
              </a:solidFill>
              <a:latin typeface="Arial"/>
              <a:ea typeface="Arial"/>
              <a:cs typeface="Arial"/>
              <a:sym typeface="Arial"/>
            </a:endParaRPr>
          </a:p>
        </p:txBody>
      </p:sp>
      <p:sp>
        <p:nvSpPr>
          <p:cNvPr id="250" name="Google Shape;250;p29"/>
          <p:cNvSpPr txBox="1"/>
          <p:nvPr/>
        </p:nvSpPr>
        <p:spPr>
          <a:xfrm>
            <a:off x="714374" y="1797843"/>
            <a:ext cx="7820100" cy="3478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CLIPSeg builds on top of CLIP — but instead of classifying an image, it performs pixel-wise segmentation (it shows </a:t>
            </a:r>
            <a:r>
              <a:rPr b="0" i="1" lang="en-US" sz="2000" u="none" cap="none" strike="noStrike">
                <a:solidFill>
                  <a:srgbClr val="000000"/>
                </a:solidFill>
                <a:latin typeface="Times New Roman"/>
                <a:ea typeface="Times New Roman"/>
                <a:cs typeface="Times New Roman"/>
                <a:sym typeface="Times New Roman"/>
              </a:rPr>
              <a:t>where</a:t>
            </a:r>
            <a:r>
              <a:rPr b="0" i="0" lang="en-US" sz="2000" u="none" cap="none" strike="noStrike">
                <a:solidFill>
                  <a:srgbClr val="000000"/>
                </a:solidFill>
                <a:latin typeface="Times New Roman"/>
                <a:ea typeface="Times New Roman"/>
                <a:cs typeface="Times New Roman"/>
                <a:sym typeface="Times New Roman"/>
              </a:rPr>
              <a:t> in the image the text applies).</a:t>
            </a:r>
            <a:endParaRPr b="0" i="0" sz="20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It uses CLIP’s text and image encoders to get understanding of both.</a:t>
            </a:r>
            <a:endParaRPr b="0" i="0" sz="20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Then adds a segmentation decoder (a small network) that predicts a heatmap — highlighting which pixels match the text prompt (e.g., “road” or “crosswalk”).</a:t>
            </a:r>
            <a:endParaRPr b="0" i="0" sz="20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Each pixel gets a “confidence score” of how much it matches the text.</a:t>
            </a:r>
            <a:endParaRPr b="0" i="0" sz="2000" u="none"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The result is a mask that shows the region related to the prompt.</a:t>
            </a:r>
            <a:endParaRPr b="0" i="0" sz="20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cxnSp>
        <p:nvCxnSpPr>
          <p:cNvPr id="255" name="Google Shape;255;p30"/>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256" name="Google Shape;256;p30"/>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p30"/>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258" name="Google Shape;258;p30"/>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259" name="Google Shape;259;p30"/>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11</a:t>
            </a:r>
            <a:endParaRPr/>
          </a:p>
        </p:txBody>
      </p:sp>
      <p:pic>
        <p:nvPicPr>
          <p:cNvPr descr="kle tech logo" id="260" name="Google Shape;260;p30"/>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261" name="Google Shape;261;p30"/>
          <p:cNvGrpSpPr/>
          <p:nvPr/>
        </p:nvGrpSpPr>
        <p:grpSpPr>
          <a:xfrm>
            <a:off x="549088" y="45376"/>
            <a:ext cx="3297243" cy="610262"/>
            <a:chOff x="533400" y="17929"/>
            <a:chExt cx="3297243" cy="660782"/>
          </a:xfrm>
        </p:grpSpPr>
        <p:pic>
          <p:nvPicPr>
            <p:cNvPr id="262" name="Google Shape;262;p30"/>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263" name="Google Shape;263;p30"/>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264" name="Google Shape;264;p30"/>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265" name="Google Shape;265;p30"/>
          <p:cNvSpPr/>
          <p:nvPr/>
        </p:nvSpPr>
        <p:spPr>
          <a:xfrm>
            <a:off x="436846" y="1138219"/>
            <a:ext cx="3702525"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chemeClr val="dk1"/>
                </a:solidFill>
                <a:latin typeface="Times New Roman"/>
                <a:ea typeface="Times New Roman"/>
                <a:cs typeface="Times New Roman"/>
                <a:sym typeface="Times New Roman"/>
              </a:rPr>
              <a:t>Affordance Detection:</a:t>
            </a:r>
            <a:endParaRPr b="0" i="0" sz="1400" u="none" cap="none" strike="noStrike">
              <a:solidFill>
                <a:schemeClr val="dk1"/>
              </a:solidFill>
              <a:latin typeface="Arial"/>
              <a:ea typeface="Arial"/>
              <a:cs typeface="Arial"/>
              <a:sym typeface="Arial"/>
            </a:endParaRPr>
          </a:p>
        </p:txBody>
      </p:sp>
      <p:sp>
        <p:nvSpPr>
          <p:cNvPr id="266" name="Google Shape;266;p30"/>
          <p:cNvSpPr txBox="1"/>
          <p:nvPr/>
        </p:nvSpPr>
        <p:spPr>
          <a:xfrm>
            <a:off x="561974" y="2159793"/>
            <a:ext cx="7886700" cy="22473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Affordance Detection is the process of identifying where and what kind of actions can be performed in an image or scene.</a:t>
            </a:r>
            <a:endParaRPr/>
          </a:p>
          <a:p>
            <a:pPr indent="-342900" lvl="0" marL="34290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The goal is to segment regions of an image based on function or usability (e.g., drivable</a:t>
            </a:r>
            <a:r>
              <a:rPr lang="en-US" sz="2000">
                <a:latin typeface="Times New Roman"/>
                <a:ea typeface="Times New Roman"/>
                <a:cs typeface="Times New Roman"/>
                <a:sym typeface="Times New Roman"/>
              </a:rPr>
              <a:t> etc</a:t>
            </a:r>
            <a:r>
              <a:rPr b="0" i="0" lang="en-US" sz="2000" u="none" cap="none" strike="noStrike">
                <a:solidFill>
                  <a:srgbClr val="000000"/>
                </a:solidFill>
                <a:latin typeface="Times New Roman"/>
                <a:ea typeface="Times New Roman"/>
                <a:cs typeface="Times New Roman"/>
                <a:sym typeface="Times New Roman"/>
              </a:rPr>
              <a:t>).</a:t>
            </a:r>
            <a:endParaRPr/>
          </a:p>
          <a:p>
            <a:pPr indent="-342900" lvl="0" marL="342900" marR="0" rtl="0" algn="just">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Traditional methods used labeled datasets, but modern zero-shot models (like CLIP or CLIPSeg) can detect affordances from text prompts without retraining.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cxnSp>
        <p:nvCxnSpPr>
          <p:cNvPr id="271" name="Google Shape;271;p31"/>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272" name="Google Shape;272;p31"/>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31"/>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274" name="Google Shape;274;p31"/>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275" name="Google Shape;275;p31"/>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12</a:t>
            </a:r>
            <a:endParaRPr sz="1200">
              <a:solidFill>
                <a:schemeClr val="dk1"/>
              </a:solidFill>
              <a:latin typeface="Times New Roman"/>
              <a:ea typeface="Times New Roman"/>
              <a:cs typeface="Times New Roman"/>
              <a:sym typeface="Times New Roman"/>
            </a:endParaRPr>
          </a:p>
        </p:txBody>
      </p:sp>
      <p:pic>
        <p:nvPicPr>
          <p:cNvPr descr="kle tech logo" id="276" name="Google Shape;276;p31"/>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277" name="Google Shape;277;p31"/>
          <p:cNvGrpSpPr/>
          <p:nvPr/>
        </p:nvGrpSpPr>
        <p:grpSpPr>
          <a:xfrm>
            <a:off x="549088" y="45376"/>
            <a:ext cx="3297243" cy="610262"/>
            <a:chOff x="533400" y="17929"/>
            <a:chExt cx="3297243" cy="660782"/>
          </a:xfrm>
        </p:grpSpPr>
        <p:pic>
          <p:nvPicPr>
            <p:cNvPr id="278" name="Google Shape;278;p31"/>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279" name="Google Shape;279;p31"/>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280" name="Google Shape;280;p31"/>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281" name="Google Shape;281;p31"/>
          <p:cNvSpPr/>
          <p:nvPr/>
        </p:nvSpPr>
        <p:spPr>
          <a:xfrm>
            <a:off x="436846" y="1138219"/>
            <a:ext cx="3702525"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100">
                <a:solidFill>
                  <a:schemeClr val="dk1"/>
                </a:solidFill>
                <a:latin typeface="Times New Roman"/>
                <a:ea typeface="Times New Roman"/>
                <a:cs typeface="Times New Roman"/>
                <a:sym typeface="Times New Roman"/>
              </a:rPr>
              <a:t>Functional Block Diagram:</a:t>
            </a:r>
            <a:endParaRPr b="0" i="0" sz="1400" u="none" cap="none" strike="noStrike">
              <a:solidFill>
                <a:srgbClr val="000000"/>
              </a:solidFill>
              <a:latin typeface="Arial"/>
              <a:ea typeface="Arial"/>
              <a:cs typeface="Arial"/>
              <a:sym typeface="Arial"/>
            </a:endParaRPr>
          </a:p>
        </p:txBody>
      </p:sp>
      <p:pic>
        <p:nvPicPr>
          <p:cNvPr id="282" name="Google Shape;282;p31"/>
          <p:cNvPicPr preferRelativeResize="0"/>
          <p:nvPr/>
        </p:nvPicPr>
        <p:blipFill>
          <a:blip r:embed="rId5">
            <a:alphaModFix/>
          </a:blip>
          <a:stretch>
            <a:fillRect/>
          </a:stretch>
        </p:blipFill>
        <p:spPr>
          <a:xfrm>
            <a:off x="1242850" y="1943099"/>
            <a:ext cx="6550575" cy="3907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cxnSp>
        <p:nvCxnSpPr>
          <p:cNvPr id="287" name="Google Shape;287;p32"/>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288" name="Google Shape;288;p32"/>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p32"/>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290" name="Google Shape;290;p32"/>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291" name="Google Shape;291;p32"/>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13</a:t>
            </a:r>
            <a:endParaRPr sz="1200">
              <a:solidFill>
                <a:schemeClr val="dk1"/>
              </a:solidFill>
              <a:latin typeface="Times New Roman"/>
              <a:ea typeface="Times New Roman"/>
              <a:cs typeface="Times New Roman"/>
              <a:sym typeface="Times New Roman"/>
            </a:endParaRPr>
          </a:p>
        </p:txBody>
      </p:sp>
      <p:pic>
        <p:nvPicPr>
          <p:cNvPr descr="kle tech logo" id="292" name="Google Shape;292;p32"/>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293" name="Google Shape;293;p32"/>
          <p:cNvGrpSpPr/>
          <p:nvPr/>
        </p:nvGrpSpPr>
        <p:grpSpPr>
          <a:xfrm>
            <a:off x="549088" y="45376"/>
            <a:ext cx="3297243" cy="610262"/>
            <a:chOff x="533400" y="17929"/>
            <a:chExt cx="3297243" cy="660782"/>
          </a:xfrm>
        </p:grpSpPr>
        <p:pic>
          <p:nvPicPr>
            <p:cNvPr id="294" name="Google Shape;294;p32"/>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295" name="Google Shape;295;p32"/>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296" name="Google Shape;296;p32"/>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297" name="Google Shape;297;p32"/>
          <p:cNvSpPr/>
          <p:nvPr/>
        </p:nvSpPr>
        <p:spPr>
          <a:xfrm>
            <a:off x="436846" y="1138219"/>
            <a:ext cx="3702525"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298" name="Google Shape;298;p32"/>
          <p:cNvSpPr txBox="1"/>
          <p:nvPr/>
        </p:nvSpPr>
        <p:spPr>
          <a:xfrm>
            <a:off x="500062" y="1095374"/>
            <a:ext cx="7774781" cy="4770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0000"/>
                </a:solidFill>
                <a:latin typeface="Times New Roman"/>
                <a:ea typeface="Times New Roman"/>
                <a:cs typeface="Times New Roman"/>
                <a:sym typeface="Times New Roman"/>
              </a:rPr>
              <a:t>Affordance Detection</a:t>
            </a:r>
            <a:r>
              <a:rPr b="1" i="0" lang="en-US" sz="2500" u="none" cap="none" strike="noStrike">
                <a:solidFill>
                  <a:srgbClr val="000000"/>
                </a:solidFill>
                <a:latin typeface="Times New Roman"/>
                <a:ea typeface="Times New Roman"/>
                <a:cs typeface="Times New Roman"/>
                <a:sym typeface="Times New Roman"/>
              </a:rPr>
              <a:t>:</a:t>
            </a:r>
            <a:endParaRPr/>
          </a:p>
        </p:txBody>
      </p:sp>
      <p:sp>
        <p:nvSpPr>
          <p:cNvPr id="299" name="Google Shape;299;p32"/>
          <p:cNvSpPr txBox="1"/>
          <p:nvPr/>
        </p:nvSpPr>
        <p:spPr>
          <a:xfrm>
            <a:off x="554831" y="2024062"/>
            <a:ext cx="7893900" cy="2435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The model detects the drivable affordance in road scenes, which corresponds to regions where a vehicle can safely move, such as open roads and driving lanes. Identifying drivable areas provides an action-centric understanding of the scene by directly highlighting navigable surfaces rather than semantic object categories. This affordance-based representation supports reliable decision-making in autonomous driving and navigation tasks by focusing on regions that enable safe vehicle motion.</a:t>
            </a:r>
            <a:endParaRPr sz="1800">
              <a:solidFill>
                <a:schemeClr val="dk1"/>
              </a:solidFill>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cxnSp>
        <p:nvCxnSpPr>
          <p:cNvPr id="304" name="Google Shape;304;p33"/>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305" name="Google Shape;305;p33"/>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p33"/>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307" name="Google Shape;307;p33"/>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308" name="Google Shape;308;p33"/>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14</a:t>
            </a:r>
            <a:endParaRPr sz="1200">
              <a:solidFill>
                <a:schemeClr val="dk1"/>
              </a:solidFill>
              <a:latin typeface="Times New Roman"/>
              <a:ea typeface="Times New Roman"/>
              <a:cs typeface="Times New Roman"/>
              <a:sym typeface="Times New Roman"/>
            </a:endParaRPr>
          </a:p>
        </p:txBody>
      </p:sp>
      <p:pic>
        <p:nvPicPr>
          <p:cNvPr descr="kle tech logo" id="309" name="Google Shape;309;p33"/>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310" name="Google Shape;310;p33"/>
          <p:cNvGrpSpPr/>
          <p:nvPr/>
        </p:nvGrpSpPr>
        <p:grpSpPr>
          <a:xfrm>
            <a:off x="549088" y="45376"/>
            <a:ext cx="3297243" cy="610262"/>
            <a:chOff x="533400" y="17929"/>
            <a:chExt cx="3297243" cy="660782"/>
          </a:xfrm>
        </p:grpSpPr>
        <p:pic>
          <p:nvPicPr>
            <p:cNvPr id="311" name="Google Shape;311;p33"/>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312" name="Google Shape;312;p33"/>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313" name="Google Shape;313;p33"/>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314" name="Google Shape;314;p33"/>
          <p:cNvSpPr/>
          <p:nvPr/>
        </p:nvSpPr>
        <p:spPr>
          <a:xfrm>
            <a:off x="436846" y="1138219"/>
            <a:ext cx="3702525"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315" name="Google Shape;315;p33"/>
          <p:cNvSpPr txBox="1"/>
          <p:nvPr/>
        </p:nvSpPr>
        <p:spPr>
          <a:xfrm>
            <a:off x="433387" y="923924"/>
            <a:ext cx="7774781" cy="4154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100" u="none" cap="none" strike="noStrike">
                <a:solidFill>
                  <a:srgbClr val="000000"/>
                </a:solidFill>
                <a:latin typeface="Times New Roman"/>
                <a:ea typeface="Times New Roman"/>
                <a:cs typeface="Times New Roman"/>
                <a:sym typeface="Times New Roman"/>
              </a:rPr>
              <a:t>Prompts for affordance detection: </a:t>
            </a:r>
            <a:endParaRPr b="0" i="0" sz="1400" u="none" cap="none" strike="noStrike">
              <a:solidFill>
                <a:srgbClr val="000000"/>
              </a:solidFill>
              <a:latin typeface="Arial"/>
              <a:ea typeface="Arial"/>
              <a:cs typeface="Arial"/>
              <a:sym typeface="Arial"/>
            </a:endParaRPr>
          </a:p>
        </p:txBody>
      </p:sp>
      <p:sp>
        <p:nvSpPr>
          <p:cNvPr id="316" name="Google Shape;316;p33"/>
          <p:cNvSpPr txBox="1"/>
          <p:nvPr/>
        </p:nvSpPr>
        <p:spPr>
          <a:xfrm>
            <a:off x="533400" y="1977225"/>
            <a:ext cx="7409100" cy="2700000"/>
          </a:xfrm>
          <a:prstGeom prst="rect">
            <a:avLst/>
          </a:prstGeom>
          <a:noFill/>
          <a:ln>
            <a:noFill/>
          </a:ln>
        </p:spPr>
        <p:txBody>
          <a:bodyPr anchorCtr="0" anchor="t" bIns="45700" lIns="91425" spcFirstLastPara="1" rIns="91425" wrap="square" tIns="45700">
            <a:normAutofit/>
          </a:bodyPr>
          <a:lstStyle/>
          <a:p>
            <a:pPr indent="-285750" lvl="0" marL="285750" marR="0" rtl="0" algn="just">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Times New Roman"/>
                <a:ea typeface="Times New Roman"/>
                <a:cs typeface="Times New Roman"/>
                <a:sym typeface="Times New Roman"/>
              </a:rPr>
              <a:t>Drivable:</a:t>
            </a:r>
            <a:endParaRPr/>
          </a:p>
          <a:p>
            <a:pPr indent="0" lvl="0" marL="0" marR="0" rtl="0" algn="just">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  </a:t>
            </a:r>
            <a:r>
              <a:rPr b="0" i="0" lang="en-US" sz="1800" u="none" cap="none" strike="noStrike">
                <a:solidFill>
                  <a:schemeClr val="dk1"/>
                </a:solidFill>
                <a:latin typeface="Times New Roman"/>
                <a:ea typeface="Times New Roman"/>
                <a:cs typeface="Times New Roman"/>
                <a:sym typeface="Times New Roman"/>
              </a:rPr>
              <a:t>  </a:t>
            </a:r>
            <a:r>
              <a:rPr b="0" i="0" lang="en-US" sz="1500" u="none" cap="none" strike="noStrike">
                <a:solidFill>
                  <a:schemeClr val="dk1"/>
                </a:solidFill>
                <a:latin typeface="Times New Roman"/>
                <a:ea typeface="Times New Roman"/>
                <a:cs typeface="Times New Roman"/>
                <a:sym typeface="Times New Roman"/>
              </a:rPr>
              <a:t>"a road where vehicles can drive",</a:t>
            </a:r>
            <a:endParaRPr/>
          </a:p>
          <a:p>
            <a:pPr indent="0" lvl="0" marL="0" marR="0" rtl="0" algn="just">
              <a:lnSpc>
                <a:spcPct val="100000"/>
              </a:lnSpc>
              <a:spcBef>
                <a:spcPts val="0"/>
              </a:spcBef>
              <a:spcAft>
                <a:spcPts val="0"/>
              </a:spcAft>
              <a:buNone/>
            </a:pPr>
            <a:r>
              <a:rPr b="0" i="0" lang="en-US" sz="1500" u="none" cap="none" strike="noStrike">
                <a:solidFill>
                  <a:schemeClr val="dk1"/>
                </a:solidFill>
                <a:latin typeface="Times New Roman"/>
                <a:ea typeface="Times New Roman"/>
                <a:cs typeface="Times New Roman"/>
                <a:sym typeface="Times New Roman"/>
              </a:rPr>
              <a:t>         "an open road for cars to drive on",</a:t>
            </a:r>
            <a:endParaRPr/>
          </a:p>
          <a:p>
            <a:pPr indent="0" lvl="0" marL="0" marR="0" rtl="0" algn="just">
              <a:lnSpc>
                <a:spcPct val="100000"/>
              </a:lnSpc>
              <a:spcBef>
                <a:spcPts val="0"/>
              </a:spcBef>
              <a:spcAft>
                <a:spcPts val="0"/>
              </a:spcAft>
              <a:buNone/>
            </a:pPr>
            <a:r>
              <a:rPr b="0" i="0" lang="en-US" sz="1500" u="none" cap="none" strike="noStrike">
                <a:solidFill>
                  <a:schemeClr val="dk1"/>
                </a:solidFill>
                <a:latin typeface="Times New Roman"/>
                <a:ea typeface="Times New Roman"/>
                <a:cs typeface="Times New Roman"/>
                <a:sym typeface="Times New Roman"/>
              </a:rPr>
              <a:t>          "asphalt road surface",</a:t>
            </a:r>
            <a:endParaRPr/>
          </a:p>
          <a:p>
            <a:pPr indent="0" lvl="0" marL="0" marR="0" rtl="0" algn="just">
              <a:lnSpc>
                <a:spcPct val="100000"/>
              </a:lnSpc>
              <a:spcBef>
                <a:spcPts val="0"/>
              </a:spcBef>
              <a:spcAft>
                <a:spcPts val="0"/>
              </a:spcAft>
              <a:buNone/>
            </a:pPr>
            <a:r>
              <a:rPr b="0" i="0" lang="en-US" sz="1500" u="none" cap="none" strike="noStrike">
                <a:solidFill>
                  <a:schemeClr val="dk1"/>
                </a:solidFill>
                <a:latin typeface="Times New Roman"/>
                <a:ea typeface="Times New Roman"/>
                <a:cs typeface="Times New Roman"/>
                <a:sym typeface="Times New Roman"/>
              </a:rPr>
              <a:t>         "a clear street for driving",</a:t>
            </a:r>
            <a:endParaRPr/>
          </a:p>
          <a:p>
            <a:pPr indent="0" lvl="0" marL="0" marR="0" rtl="0" algn="just">
              <a:lnSpc>
                <a:spcPct val="100000"/>
              </a:lnSpc>
              <a:spcBef>
                <a:spcPts val="0"/>
              </a:spcBef>
              <a:spcAft>
                <a:spcPts val="0"/>
              </a:spcAft>
              <a:buNone/>
            </a:pPr>
            <a:r>
              <a:rPr b="0" i="0" lang="en-US" sz="1500" u="none" cap="none" strike="noStrike">
                <a:solidFill>
                  <a:schemeClr val="dk1"/>
                </a:solidFill>
                <a:latin typeface="Times New Roman"/>
                <a:ea typeface="Times New Roman"/>
                <a:cs typeface="Times New Roman"/>
                <a:sym typeface="Times New Roman"/>
              </a:rPr>
              <a:t>         "highway or main road for cars",</a:t>
            </a:r>
            <a:endParaRPr/>
          </a:p>
          <a:p>
            <a:pPr indent="0" lvl="0" marL="0" marR="0" rtl="0" algn="just">
              <a:lnSpc>
                <a:spcPct val="100000"/>
              </a:lnSpc>
              <a:spcBef>
                <a:spcPts val="0"/>
              </a:spcBef>
              <a:spcAft>
                <a:spcPts val="0"/>
              </a:spcAft>
              <a:buNone/>
            </a:pPr>
            <a:r>
              <a:rPr b="0" i="0" lang="en-US" sz="1500" u="none" cap="none" strike="noStrike">
                <a:solidFill>
                  <a:schemeClr val="dk1"/>
                </a:solidFill>
                <a:latin typeface="Times New Roman"/>
                <a:ea typeface="Times New Roman"/>
                <a:cs typeface="Times New Roman"/>
                <a:sym typeface="Times New Roman"/>
              </a:rPr>
              <a:t>         "drivable path for a vehicle"</a:t>
            </a:r>
            <a:endParaRPr/>
          </a:p>
          <a:p>
            <a:pPr indent="0" lvl="1" marL="0" marR="0" rtl="0" algn="just">
              <a:lnSpc>
                <a:spcPct val="100000"/>
              </a:lnSpc>
              <a:spcBef>
                <a:spcPts val="0"/>
              </a:spcBef>
              <a:spcAft>
                <a:spcPts val="0"/>
              </a:spcAft>
              <a:buNone/>
            </a:pPr>
            <a:r>
              <a:t/>
            </a:r>
            <a:endParaRPr/>
          </a:p>
          <a:p>
            <a:pPr indent="0" lvl="1" marL="0" marR="0" rtl="0" algn="just">
              <a:lnSpc>
                <a:spcPct val="100000"/>
              </a:lnSpc>
              <a:spcBef>
                <a:spcPts val="0"/>
              </a:spcBef>
              <a:spcAft>
                <a:spcPts val="0"/>
              </a:spcAft>
              <a:buNone/>
            </a:pPr>
            <a:r>
              <a:t/>
            </a:r>
            <a:endParaRPr b="0" i="0" sz="1500" u="none" cap="none" strike="noStrike">
              <a:solidFill>
                <a:schemeClr val="dk1"/>
              </a:solidFill>
              <a:latin typeface="Times New Roman"/>
              <a:ea typeface="Times New Roman"/>
              <a:cs typeface="Times New Roman"/>
              <a:sym typeface="Times New Roman"/>
            </a:endParaRPr>
          </a:p>
          <a:p>
            <a:pPr indent="0" lvl="1" marL="457200" marR="0" rtl="0" algn="just">
              <a:lnSpc>
                <a:spcPct val="10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cxnSp>
        <p:nvCxnSpPr>
          <p:cNvPr id="321" name="Google Shape;321;p34"/>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322" name="Google Shape;322;p34"/>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34"/>
          <p:cNvSpPr txBox="1"/>
          <p:nvPr>
            <p:ph idx="10" type="dt"/>
          </p:nvPr>
        </p:nvSpPr>
        <p:spPr>
          <a:xfrm>
            <a:off x="211250" y="6523037"/>
            <a:ext cx="2514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324" name="Google Shape;324;p34"/>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325" name="Google Shape;325;p34"/>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15</a:t>
            </a:r>
            <a:endParaRPr sz="1200">
              <a:solidFill>
                <a:schemeClr val="dk1"/>
              </a:solidFill>
              <a:latin typeface="Times New Roman"/>
              <a:ea typeface="Times New Roman"/>
              <a:cs typeface="Times New Roman"/>
              <a:sym typeface="Times New Roman"/>
            </a:endParaRPr>
          </a:p>
        </p:txBody>
      </p:sp>
      <p:pic>
        <p:nvPicPr>
          <p:cNvPr descr="kle tech logo" id="326" name="Google Shape;326;p34"/>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327" name="Google Shape;327;p34"/>
          <p:cNvGrpSpPr/>
          <p:nvPr/>
        </p:nvGrpSpPr>
        <p:grpSpPr>
          <a:xfrm>
            <a:off x="549088" y="45376"/>
            <a:ext cx="3297243" cy="610262"/>
            <a:chOff x="533400" y="17929"/>
            <a:chExt cx="3297243" cy="660782"/>
          </a:xfrm>
        </p:grpSpPr>
        <p:pic>
          <p:nvPicPr>
            <p:cNvPr id="328" name="Google Shape;328;p34"/>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329" name="Google Shape;329;p34"/>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330" name="Google Shape;330;p34"/>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331" name="Google Shape;331;p34"/>
          <p:cNvSpPr/>
          <p:nvPr/>
        </p:nvSpPr>
        <p:spPr>
          <a:xfrm>
            <a:off x="436846" y="1138219"/>
            <a:ext cx="3702525"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332" name="Google Shape;332;p34"/>
          <p:cNvSpPr txBox="1"/>
          <p:nvPr/>
        </p:nvSpPr>
        <p:spPr>
          <a:xfrm>
            <a:off x="500062" y="1095374"/>
            <a:ext cx="7774781" cy="8002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500" u="none" cap="none" strike="noStrike">
                <a:solidFill>
                  <a:srgbClr val="000000"/>
                </a:solidFill>
                <a:latin typeface="Times New Roman"/>
                <a:ea typeface="Times New Roman"/>
                <a:cs typeface="Times New Roman"/>
                <a:sym typeface="Times New Roman"/>
              </a:rPr>
              <a:t>Results:</a:t>
            </a:r>
            <a:endParaRPr/>
          </a:p>
          <a:p>
            <a:pPr indent="0" lvl="0" marL="0" marR="0" rtl="0" algn="l">
              <a:lnSpc>
                <a:spcPct val="100000"/>
              </a:lnSpc>
              <a:spcBef>
                <a:spcPts val="0"/>
              </a:spcBef>
              <a:spcAft>
                <a:spcPts val="0"/>
              </a:spcAft>
              <a:buNone/>
            </a:pPr>
            <a:r>
              <a:t/>
            </a:r>
            <a:endParaRPr b="1" i="0" sz="2100" u="none" cap="none" strike="noStrike">
              <a:solidFill>
                <a:srgbClr val="000000"/>
              </a:solidFill>
              <a:latin typeface="Times New Roman"/>
              <a:ea typeface="Times New Roman"/>
              <a:cs typeface="Times New Roman"/>
              <a:sym typeface="Times New Roman"/>
            </a:endParaRPr>
          </a:p>
        </p:txBody>
      </p:sp>
      <p:sp>
        <p:nvSpPr>
          <p:cNvPr id="333" name="Google Shape;333;p34"/>
          <p:cNvSpPr txBox="1"/>
          <p:nvPr/>
        </p:nvSpPr>
        <p:spPr>
          <a:xfrm>
            <a:off x="519125" y="1642375"/>
            <a:ext cx="79533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Average IoU for each affordance:</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Times New Roman"/>
              <a:ea typeface="Times New Roman"/>
              <a:cs typeface="Times New Roman"/>
              <a:sym typeface="Times New Roman"/>
            </a:endParaRPr>
          </a:p>
        </p:txBody>
      </p:sp>
      <p:graphicFrame>
        <p:nvGraphicFramePr>
          <p:cNvPr id="334" name="Google Shape;334;p34"/>
          <p:cNvGraphicFramePr/>
          <p:nvPr/>
        </p:nvGraphicFramePr>
        <p:xfrm>
          <a:off x="1615875" y="2822750"/>
          <a:ext cx="3000000" cy="3000000"/>
        </p:xfrm>
        <a:graphic>
          <a:graphicData uri="http://schemas.openxmlformats.org/drawingml/2006/table">
            <a:tbl>
              <a:tblPr bandRow="1" firstRow="1">
                <a:noFill/>
                <a:tableStyleId>{22B81663-2ADE-4422-954A-A9CC8490E308}</a:tableStyleId>
              </a:tblPr>
              <a:tblGrid>
                <a:gridCol w="1790225"/>
                <a:gridCol w="1790225"/>
                <a:gridCol w="1790225"/>
              </a:tblGrid>
              <a:tr h="783300">
                <a:tc>
                  <a:txBody>
                    <a:bodyPr/>
                    <a:lstStyle/>
                    <a:p>
                      <a:pPr indent="0" lvl="0" marL="0" marR="0" rtl="0" algn="ctr">
                        <a:lnSpc>
                          <a:spcPct val="100000"/>
                        </a:lnSpc>
                        <a:spcBef>
                          <a:spcPts val="0"/>
                        </a:spcBef>
                        <a:spcAft>
                          <a:spcPts val="0"/>
                        </a:spcAft>
                        <a:buNone/>
                      </a:pPr>
                      <a:r>
                        <a:rPr lang="en-US" sz="1600" u="none" cap="none" strike="noStrike"/>
                        <a:t>Affordances</a:t>
                      </a:r>
                      <a:endParaRPr/>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Mean IoU</a:t>
                      </a:r>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Threshold</a:t>
                      </a:r>
                      <a:endParaRPr sz="1600" u="none" cap="none" strike="noStrike"/>
                    </a:p>
                  </a:txBody>
                  <a:tcPr marT="45725" marB="45725" marR="91450" marL="91450" anchor="ctr"/>
                </a:tc>
              </a:tr>
              <a:tr h="783300">
                <a:tc>
                  <a:txBody>
                    <a:bodyPr/>
                    <a:lstStyle/>
                    <a:p>
                      <a:pPr indent="0" lvl="0" marL="0" marR="0" rtl="0" algn="ctr">
                        <a:lnSpc>
                          <a:spcPct val="100000"/>
                        </a:lnSpc>
                        <a:spcBef>
                          <a:spcPts val="0"/>
                        </a:spcBef>
                        <a:spcAft>
                          <a:spcPts val="0"/>
                        </a:spcAft>
                        <a:buNone/>
                      </a:pPr>
                      <a:r>
                        <a:rPr lang="en-US" sz="1600" u="none" cap="none" strike="noStrike"/>
                        <a:t>Drivable</a:t>
                      </a:r>
                      <a:endParaRPr sz="1600" u="none" cap="none" strike="noStrike"/>
                    </a:p>
                  </a:txBody>
                  <a:tcPr marT="45725" marB="45725" marR="91450" marL="91450" anchor="ctr"/>
                </a:tc>
                <a:tc>
                  <a:txBody>
                    <a:bodyPr/>
                    <a:lstStyle/>
                    <a:p>
                      <a:pPr indent="0" lvl="0" marL="0" marR="0" rtl="0" algn="ctr">
                        <a:lnSpc>
                          <a:spcPct val="100000"/>
                        </a:lnSpc>
                        <a:spcBef>
                          <a:spcPts val="0"/>
                        </a:spcBef>
                        <a:spcAft>
                          <a:spcPts val="0"/>
                        </a:spcAft>
                        <a:buNone/>
                      </a:pPr>
                      <a:r>
                        <a:rPr lang="en-US" sz="1600" u="none" cap="none" strike="noStrike"/>
                        <a:t>0.6</a:t>
                      </a:r>
                      <a:r>
                        <a:rPr lang="en-US" sz="1600"/>
                        <a:t>19</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0.</a:t>
                      </a:r>
                      <a:r>
                        <a:rPr lang="en-US" sz="1600"/>
                        <a:t>7</a:t>
                      </a:r>
                      <a:endParaRPr/>
                    </a:p>
                  </a:txBody>
                  <a:tcPr marT="45725" marB="45725" marR="91450" marL="91450" anchor="ctr"/>
                </a:tc>
              </a:tr>
            </a:tbl>
          </a:graphicData>
        </a:graphic>
      </p:graphicFrame>
      <p:sp>
        <p:nvSpPr>
          <p:cNvPr id="335" name="Google Shape;335;p34"/>
          <p:cNvSpPr txBox="1"/>
          <p:nvPr/>
        </p:nvSpPr>
        <p:spPr>
          <a:xfrm>
            <a:off x="762000" y="5166175"/>
            <a:ext cx="7924800" cy="987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US" sz="1600">
                <a:solidFill>
                  <a:schemeClr val="dk1"/>
                </a:solidFill>
                <a:latin typeface="Times New Roman"/>
                <a:ea typeface="Times New Roman"/>
                <a:cs typeface="Times New Roman"/>
                <a:sym typeface="Times New Roman"/>
              </a:rPr>
              <a:t>IoU (Intersection over Union)</a:t>
            </a:r>
            <a:r>
              <a:rPr lang="en-US" sz="1600">
                <a:solidFill>
                  <a:schemeClr val="dk1"/>
                </a:solidFill>
                <a:latin typeface="Times New Roman"/>
                <a:ea typeface="Times New Roman"/>
                <a:cs typeface="Times New Roman"/>
                <a:sym typeface="Times New Roman"/>
              </a:rPr>
              <a:t> measures how much the predicted area overlaps with the ground truth area — it’s the ratio of the common (overlapping) area to the total area covered by both.</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cxnSp>
        <p:nvCxnSpPr>
          <p:cNvPr id="340" name="Google Shape;340;p36"/>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341" name="Google Shape;341;p36"/>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2" name="Google Shape;342;p36"/>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343" name="Google Shape;343;p36"/>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344" name="Google Shape;344;p36"/>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16</a:t>
            </a:r>
            <a:endParaRPr/>
          </a:p>
        </p:txBody>
      </p:sp>
      <p:pic>
        <p:nvPicPr>
          <p:cNvPr descr="kle tech logo" id="345" name="Google Shape;345;p36"/>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346" name="Google Shape;346;p36"/>
          <p:cNvGrpSpPr/>
          <p:nvPr/>
        </p:nvGrpSpPr>
        <p:grpSpPr>
          <a:xfrm>
            <a:off x="549088" y="45376"/>
            <a:ext cx="3297243" cy="610262"/>
            <a:chOff x="533400" y="17929"/>
            <a:chExt cx="3297243" cy="660782"/>
          </a:xfrm>
        </p:grpSpPr>
        <p:pic>
          <p:nvPicPr>
            <p:cNvPr id="347" name="Google Shape;347;p36"/>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348" name="Google Shape;348;p36"/>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349" name="Google Shape;349;p36"/>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350" name="Google Shape;350;p36"/>
          <p:cNvSpPr/>
          <p:nvPr/>
        </p:nvSpPr>
        <p:spPr>
          <a:xfrm>
            <a:off x="436846" y="1138219"/>
            <a:ext cx="3702525"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351" name="Google Shape;351;p36"/>
          <p:cNvSpPr txBox="1"/>
          <p:nvPr/>
        </p:nvSpPr>
        <p:spPr>
          <a:xfrm>
            <a:off x="500062" y="1095374"/>
            <a:ext cx="7774781" cy="8002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500" u="none" cap="none" strike="noStrike">
                <a:solidFill>
                  <a:srgbClr val="000000"/>
                </a:solidFill>
                <a:latin typeface="Times New Roman"/>
                <a:ea typeface="Times New Roman"/>
                <a:cs typeface="Times New Roman"/>
                <a:sym typeface="Times New Roman"/>
              </a:rPr>
              <a:t>Visual Results:</a:t>
            </a:r>
            <a:endParaRPr/>
          </a:p>
          <a:p>
            <a:pPr indent="0" lvl="0" marL="0" marR="0" rtl="0" algn="l">
              <a:lnSpc>
                <a:spcPct val="100000"/>
              </a:lnSpc>
              <a:spcBef>
                <a:spcPts val="0"/>
              </a:spcBef>
              <a:spcAft>
                <a:spcPts val="0"/>
              </a:spcAft>
              <a:buNone/>
            </a:pPr>
            <a:r>
              <a:t/>
            </a:r>
            <a:endParaRPr b="1" i="0" sz="2100" u="none" cap="none" strike="noStrike">
              <a:solidFill>
                <a:srgbClr val="000000"/>
              </a:solidFill>
              <a:latin typeface="Times New Roman"/>
              <a:ea typeface="Times New Roman"/>
              <a:cs typeface="Times New Roman"/>
              <a:sym typeface="Times New Roman"/>
            </a:endParaRPr>
          </a:p>
        </p:txBody>
      </p:sp>
      <p:sp>
        <p:nvSpPr>
          <p:cNvPr id="352" name="Google Shape;352;p36"/>
          <p:cNvSpPr txBox="1"/>
          <p:nvPr/>
        </p:nvSpPr>
        <p:spPr>
          <a:xfrm>
            <a:off x="504824" y="1807368"/>
            <a:ext cx="760809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Affordance detection for drivable:</a:t>
            </a:r>
            <a:endParaRPr/>
          </a:p>
        </p:txBody>
      </p:sp>
      <p:pic>
        <p:nvPicPr>
          <p:cNvPr descr="A street with traffic lights and signs&#10;&#10;AI-generated content may be incorrect." id="353" name="Google Shape;353;p36"/>
          <p:cNvPicPr preferRelativeResize="0"/>
          <p:nvPr/>
        </p:nvPicPr>
        <p:blipFill rotWithShape="1">
          <a:blip r:embed="rId5">
            <a:alphaModFix/>
          </a:blip>
          <a:srcRect b="-399" l="901" r="-900" t="400"/>
          <a:stretch/>
        </p:blipFill>
        <p:spPr>
          <a:xfrm>
            <a:off x="247650" y="2476500"/>
            <a:ext cx="4248154" cy="3352800"/>
          </a:xfrm>
          <a:prstGeom prst="rect">
            <a:avLst/>
          </a:prstGeom>
          <a:noFill/>
          <a:ln>
            <a:noFill/>
          </a:ln>
        </p:spPr>
      </p:pic>
      <p:pic>
        <p:nvPicPr>
          <p:cNvPr descr="A red road with green lines on it&#10;&#10;AI-generated content may be incorrect." id="354" name="Google Shape;354;p36"/>
          <p:cNvPicPr preferRelativeResize="0"/>
          <p:nvPr/>
        </p:nvPicPr>
        <p:blipFill rotWithShape="1">
          <a:blip r:embed="rId6">
            <a:alphaModFix/>
          </a:blip>
          <a:srcRect b="0" l="0" r="0" t="0"/>
          <a:stretch/>
        </p:blipFill>
        <p:spPr>
          <a:xfrm>
            <a:off x="4572000" y="2476500"/>
            <a:ext cx="4486275" cy="3352800"/>
          </a:xfrm>
          <a:prstGeom prst="rect">
            <a:avLst/>
          </a:prstGeom>
          <a:noFill/>
          <a:ln>
            <a:noFill/>
          </a:ln>
        </p:spPr>
      </p:pic>
      <p:sp>
        <p:nvSpPr>
          <p:cNvPr id="355" name="Google Shape;355;p36"/>
          <p:cNvSpPr txBox="1"/>
          <p:nvPr/>
        </p:nvSpPr>
        <p:spPr>
          <a:xfrm>
            <a:off x="4660537" y="5918624"/>
            <a:ext cx="4203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US" sz="1800" u="none" cap="none" strike="noStrike">
                <a:solidFill>
                  <a:srgbClr val="000000"/>
                </a:solidFill>
                <a:latin typeface="Times New Roman"/>
                <a:ea typeface="Times New Roman"/>
                <a:cs typeface="Times New Roman"/>
                <a:sym typeface="Times New Roman"/>
              </a:rPr>
              <a:t>Figure: Affordance detected Image</a:t>
            </a:r>
            <a:endParaRPr sz="1800">
              <a:latin typeface="Times New Roman"/>
              <a:ea typeface="Times New Roman"/>
              <a:cs typeface="Times New Roman"/>
              <a:sym typeface="Times New Roman"/>
            </a:endParaRPr>
          </a:p>
        </p:txBody>
      </p:sp>
      <p:sp>
        <p:nvSpPr>
          <p:cNvPr id="356" name="Google Shape;356;p36"/>
          <p:cNvSpPr txBox="1"/>
          <p:nvPr/>
        </p:nvSpPr>
        <p:spPr>
          <a:xfrm>
            <a:off x="369012" y="5991512"/>
            <a:ext cx="4203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US" sz="1800" u="none" cap="none" strike="noStrike">
                <a:solidFill>
                  <a:srgbClr val="000000"/>
                </a:solidFill>
                <a:latin typeface="Times New Roman"/>
                <a:ea typeface="Times New Roman"/>
                <a:cs typeface="Times New Roman"/>
                <a:sym typeface="Times New Roman"/>
              </a:rPr>
              <a:t>Figure: Original Image</a:t>
            </a:r>
            <a:endParaRPr sz="18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cxnSp>
        <p:nvCxnSpPr>
          <p:cNvPr id="361" name="Google Shape;361;p37"/>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362" name="Google Shape;362;p37"/>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3" name="Google Shape;363;p37"/>
          <p:cNvSpPr txBox="1"/>
          <p:nvPr>
            <p:ph idx="10" type="dt"/>
          </p:nvPr>
        </p:nvSpPr>
        <p:spPr>
          <a:xfrm>
            <a:off x="152400" y="6523037"/>
            <a:ext cx="2514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364" name="Google Shape;364;p37"/>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365" name="Google Shape;365;p37"/>
          <p:cNvSpPr txBox="1"/>
          <p:nvPr>
            <p:ph idx="12" type="sldNum"/>
          </p:nvPr>
        </p:nvSpPr>
        <p:spPr>
          <a:xfrm>
            <a:off x="6629400" y="6497424"/>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17</a:t>
            </a:r>
            <a:endParaRPr sz="1200">
              <a:solidFill>
                <a:schemeClr val="dk1"/>
              </a:solidFill>
              <a:latin typeface="Times New Roman"/>
              <a:ea typeface="Times New Roman"/>
              <a:cs typeface="Times New Roman"/>
              <a:sym typeface="Times New Roman"/>
            </a:endParaRPr>
          </a:p>
        </p:txBody>
      </p:sp>
      <p:pic>
        <p:nvPicPr>
          <p:cNvPr descr="kle tech logo" id="366" name="Google Shape;366;p37"/>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367" name="Google Shape;367;p37"/>
          <p:cNvGrpSpPr/>
          <p:nvPr/>
        </p:nvGrpSpPr>
        <p:grpSpPr>
          <a:xfrm>
            <a:off x="549088" y="45376"/>
            <a:ext cx="3297243" cy="610262"/>
            <a:chOff x="533400" y="17929"/>
            <a:chExt cx="3297243" cy="660782"/>
          </a:xfrm>
        </p:grpSpPr>
        <p:pic>
          <p:nvPicPr>
            <p:cNvPr id="368" name="Google Shape;368;p37"/>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369" name="Google Shape;369;p37"/>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370" name="Google Shape;370;p37"/>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371" name="Google Shape;371;p37"/>
          <p:cNvSpPr/>
          <p:nvPr/>
        </p:nvSpPr>
        <p:spPr>
          <a:xfrm>
            <a:off x="436846" y="1138219"/>
            <a:ext cx="3702525" cy="4154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372" name="Google Shape;372;p37"/>
          <p:cNvSpPr txBox="1"/>
          <p:nvPr/>
        </p:nvSpPr>
        <p:spPr>
          <a:xfrm>
            <a:off x="500062" y="1095374"/>
            <a:ext cx="7774781" cy="8002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500" u="none" cap="none" strike="noStrike">
                <a:solidFill>
                  <a:srgbClr val="000000"/>
                </a:solidFill>
                <a:latin typeface="Times New Roman"/>
                <a:ea typeface="Times New Roman"/>
                <a:cs typeface="Times New Roman"/>
                <a:sym typeface="Times New Roman"/>
              </a:rPr>
              <a:t>Visual Results:</a:t>
            </a:r>
            <a:endParaRPr/>
          </a:p>
          <a:p>
            <a:pPr indent="0" lvl="0" marL="0" marR="0" rtl="0" algn="l">
              <a:lnSpc>
                <a:spcPct val="100000"/>
              </a:lnSpc>
              <a:spcBef>
                <a:spcPts val="0"/>
              </a:spcBef>
              <a:spcAft>
                <a:spcPts val="0"/>
              </a:spcAft>
              <a:buNone/>
            </a:pPr>
            <a:r>
              <a:t/>
            </a:r>
            <a:endParaRPr b="1" i="0" sz="2100" u="none" cap="none" strike="noStrike">
              <a:solidFill>
                <a:srgbClr val="000000"/>
              </a:solidFill>
              <a:latin typeface="Times New Roman"/>
              <a:ea typeface="Times New Roman"/>
              <a:cs typeface="Times New Roman"/>
              <a:sym typeface="Times New Roman"/>
            </a:endParaRPr>
          </a:p>
        </p:txBody>
      </p:sp>
      <p:sp>
        <p:nvSpPr>
          <p:cNvPr id="373" name="Google Shape;373;p37"/>
          <p:cNvSpPr txBox="1"/>
          <p:nvPr/>
        </p:nvSpPr>
        <p:spPr>
          <a:xfrm>
            <a:off x="504824" y="1807368"/>
            <a:ext cx="760809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000000"/>
                </a:solidFill>
                <a:latin typeface="Times New Roman"/>
                <a:ea typeface="Times New Roman"/>
                <a:cs typeface="Times New Roman"/>
                <a:sym typeface="Times New Roman"/>
              </a:rPr>
              <a:t>Affordance detection for drivable:</a:t>
            </a:r>
            <a:endParaRPr/>
          </a:p>
        </p:txBody>
      </p:sp>
      <p:pic>
        <p:nvPicPr>
          <p:cNvPr descr="A red road with buildings and trees&#10;&#10;AI-generated content may be incorrect." id="374" name="Google Shape;374;p37"/>
          <p:cNvPicPr preferRelativeResize="0"/>
          <p:nvPr/>
        </p:nvPicPr>
        <p:blipFill rotWithShape="1">
          <a:blip r:embed="rId5">
            <a:alphaModFix/>
          </a:blip>
          <a:srcRect b="0" l="0" r="0" t="0"/>
          <a:stretch/>
        </p:blipFill>
        <p:spPr>
          <a:xfrm>
            <a:off x="4762500" y="2333625"/>
            <a:ext cx="4295775" cy="3429000"/>
          </a:xfrm>
          <a:prstGeom prst="rect">
            <a:avLst/>
          </a:prstGeom>
          <a:noFill/>
          <a:ln>
            <a:noFill/>
          </a:ln>
        </p:spPr>
      </p:pic>
      <p:pic>
        <p:nvPicPr>
          <p:cNvPr descr="A car driving down a street&#10;&#10;AI-generated content may be incorrect." id="375" name="Google Shape;375;p37"/>
          <p:cNvPicPr preferRelativeResize="0"/>
          <p:nvPr/>
        </p:nvPicPr>
        <p:blipFill rotWithShape="1">
          <a:blip r:embed="rId6">
            <a:alphaModFix/>
          </a:blip>
          <a:srcRect b="0" l="0" r="0" t="0"/>
          <a:stretch/>
        </p:blipFill>
        <p:spPr>
          <a:xfrm>
            <a:off x="114300" y="2333625"/>
            <a:ext cx="4276725" cy="3429000"/>
          </a:xfrm>
          <a:prstGeom prst="rect">
            <a:avLst/>
          </a:prstGeom>
          <a:noFill/>
          <a:ln>
            <a:noFill/>
          </a:ln>
        </p:spPr>
      </p:pic>
      <p:sp>
        <p:nvSpPr>
          <p:cNvPr id="376" name="Google Shape;376;p37"/>
          <p:cNvSpPr txBox="1"/>
          <p:nvPr/>
        </p:nvSpPr>
        <p:spPr>
          <a:xfrm>
            <a:off x="303012" y="5841449"/>
            <a:ext cx="4203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US" sz="1800" u="none" cap="none" strike="noStrike">
                <a:solidFill>
                  <a:srgbClr val="000000"/>
                </a:solidFill>
                <a:latin typeface="Times New Roman"/>
                <a:ea typeface="Times New Roman"/>
                <a:cs typeface="Times New Roman"/>
                <a:sym typeface="Times New Roman"/>
              </a:rPr>
              <a:t>Figure: Original Image</a:t>
            </a:r>
            <a:endParaRPr sz="1800">
              <a:latin typeface="Times New Roman"/>
              <a:ea typeface="Times New Roman"/>
              <a:cs typeface="Times New Roman"/>
              <a:sym typeface="Times New Roman"/>
            </a:endParaRPr>
          </a:p>
        </p:txBody>
      </p:sp>
      <p:sp>
        <p:nvSpPr>
          <p:cNvPr id="377" name="Google Shape;377;p37"/>
          <p:cNvSpPr txBox="1"/>
          <p:nvPr/>
        </p:nvSpPr>
        <p:spPr>
          <a:xfrm>
            <a:off x="4808899" y="5841449"/>
            <a:ext cx="42030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US" sz="1800" u="none" cap="none" strike="noStrike">
                <a:solidFill>
                  <a:srgbClr val="000000"/>
                </a:solidFill>
                <a:latin typeface="Times New Roman"/>
                <a:ea typeface="Times New Roman"/>
                <a:cs typeface="Times New Roman"/>
                <a:sym typeface="Times New Roman"/>
              </a:rPr>
              <a:t>Figure: Affordance detected Image</a:t>
            </a:r>
            <a:endParaRPr sz="18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cxnSp>
        <p:nvCxnSpPr>
          <p:cNvPr id="382" name="Google Shape;382;g3b5eab210b8_0_46"/>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383" name="Google Shape;383;g3b5eab210b8_0_46"/>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4" name="Google Shape;384;g3b5eab210b8_0_46"/>
          <p:cNvSpPr txBox="1"/>
          <p:nvPr>
            <p:ph idx="10" type="dt"/>
          </p:nvPr>
        </p:nvSpPr>
        <p:spPr>
          <a:xfrm>
            <a:off x="152400" y="6523037"/>
            <a:ext cx="2514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385" name="Google Shape;385;g3b5eab210b8_0_46"/>
          <p:cNvSpPr txBox="1"/>
          <p:nvPr>
            <p:ph idx="11" type="ftr"/>
          </p:nvPr>
        </p:nvSpPr>
        <p:spPr>
          <a:xfrm>
            <a:off x="3239068" y="6523037"/>
            <a:ext cx="3352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386" name="Google Shape;386;g3b5eab210b8_0_46"/>
          <p:cNvSpPr txBox="1"/>
          <p:nvPr>
            <p:ph idx="12" type="sldNum"/>
          </p:nvPr>
        </p:nvSpPr>
        <p:spPr>
          <a:xfrm>
            <a:off x="6629400" y="6497424"/>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18</a:t>
            </a:r>
            <a:endParaRPr sz="1200">
              <a:solidFill>
                <a:schemeClr val="dk1"/>
              </a:solidFill>
              <a:latin typeface="Times New Roman"/>
              <a:ea typeface="Times New Roman"/>
              <a:cs typeface="Times New Roman"/>
              <a:sym typeface="Times New Roman"/>
            </a:endParaRPr>
          </a:p>
        </p:txBody>
      </p:sp>
      <p:pic>
        <p:nvPicPr>
          <p:cNvPr descr="kle tech logo" id="387" name="Google Shape;387;g3b5eab210b8_0_46"/>
          <p:cNvPicPr preferRelativeResize="0"/>
          <p:nvPr/>
        </p:nvPicPr>
        <p:blipFill rotWithShape="1">
          <a:blip r:embed="rId3">
            <a:alphaModFix/>
          </a:blip>
          <a:srcRect b="0" l="0" r="0" t="0"/>
          <a:stretch/>
        </p:blipFill>
        <p:spPr>
          <a:xfrm>
            <a:off x="6096000" y="71124"/>
            <a:ext cx="2438401" cy="508084"/>
          </a:xfrm>
          <a:prstGeom prst="rect">
            <a:avLst/>
          </a:prstGeom>
          <a:noFill/>
          <a:ln>
            <a:noFill/>
          </a:ln>
        </p:spPr>
      </p:pic>
      <p:grpSp>
        <p:nvGrpSpPr>
          <p:cNvPr id="388" name="Google Shape;388;g3b5eab210b8_0_46"/>
          <p:cNvGrpSpPr/>
          <p:nvPr/>
        </p:nvGrpSpPr>
        <p:grpSpPr>
          <a:xfrm>
            <a:off x="549088" y="45375"/>
            <a:ext cx="3297265" cy="610232"/>
            <a:chOff x="533400" y="17929"/>
            <a:chExt cx="3297265" cy="660782"/>
          </a:xfrm>
        </p:grpSpPr>
        <p:pic>
          <p:nvPicPr>
            <p:cNvPr id="389" name="Google Shape;389;g3b5eab210b8_0_46"/>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390" name="Google Shape;390;g3b5eab210b8_0_46"/>
            <p:cNvSpPr/>
            <p:nvPr/>
          </p:nvSpPr>
          <p:spPr>
            <a:xfrm>
              <a:off x="1034365" y="17929"/>
              <a:ext cx="27963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391" name="Google Shape;391;g3b5eab210b8_0_46"/>
            <p:cNvSpPr/>
            <p:nvPr/>
          </p:nvSpPr>
          <p:spPr>
            <a:xfrm>
              <a:off x="1359454" y="253440"/>
              <a:ext cx="24711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392" name="Google Shape;392;g3b5eab210b8_0_46"/>
          <p:cNvSpPr/>
          <p:nvPr/>
        </p:nvSpPr>
        <p:spPr>
          <a:xfrm>
            <a:off x="436846" y="1138219"/>
            <a:ext cx="37026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393" name="Google Shape;393;g3b5eab210b8_0_46"/>
          <p:cNvSpPr txBox="1"/>
          <p:nvPr/>
        </p:nvSpPr>
        <p:spPr>
          <a:xfrm>
            <a:off x="500050" y="1095375"/>
            <a:ext cx="77748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400">
                <a:latin typeface="Times New Roman"/>
                <a:ea typeface="Times New Roman"/>
                <a:cs typeface="Times New Roman"/>
                <a:sym typeface="Times New Roman"/>
              </a:rPr>
              <a:t>Affordance detection during Adverse Condition: </a:t>
            </a:r>
            <a:endParaRPr sz="24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2400" u="none" cap="none" strike="noStrike">
              <a:solidFill>
                <a:srgbClr val="000000"/>
              </a:solidFill>
              <a:latin typeface="Times New Roman"/>
              <a:ea typeface="Times New Roman"/>
              <a:cs typeface="Times New Roman"/>
              <a:sym typeface="Times New Roman"/>
            </a:endParaRPr>
          </a:p>
        </p:txBody>
      </p:sp>
      <p:sp>
        <p:nvSpPr>
          <p:cNvPr id="394" name="Google Shape;394;g3b5eab210b8_0_46"/>
          <p:cNvSpPr txBox="1"/>
          <p:nvPr/>
        </p:nvSpPr>
        <p:spPr>
          <a:xfrm>
            <a:off x="396775" y="1844575"/>
            <a:ext cx="8289900" cy="42303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Adverse weather and lighting conditions are incorporated into the evaluation objective to assess the robustness of the proposed framework in visually degraded environments without altering the zero-shot inference setting.</a:t>
            </a:r>
            <a:br>
              <a:rPr lang="en-US" sz="2100">
                <a:solidFill>
                  <a:schemeClr val="dk1"/>
                </a:solidFill>
                <a:latin typeface="Times New Roman"/>
                <a:ea typeface="Times New Roman"/>
                <a:cs typeface="Times New Roman"/>
                <a:sym typeface="Times New Roman"/>
              </a:rPr>
            </a:b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To support this objective, Fourier Domain Adaptation is implemented as a preprocessing step, enabling robustness analysis without retraining or modifying the pretrained vision–language model.</a:t>
            </a:r>
            <a:br>
              <a:rPr lang="en-US" sz="2100">
                <a:solidFill>
                  <a:schemeClr val="dk1"/>
                </a:solidFill>
                <a:latin typeface="Times New Roman"/>
                <a:ea typeface="Times New Roman"/>
                <a:cs typeface="Times New Roman"/>
                <a:sym typeface="Times New Roman"/>
              </a:rPr>
            </a:b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US" sz="2100">
                <a:solidFill>
                  <a:schemeClr val="dk1"/>
                </a:solidFill>
                <a:latin typeface="Times New Roman"/>
                <a:ea typeface="Times New Roman"/>
                <a:cs typeface="Times New Roman"/>
                <a:sym typeface="Times New Roman"/>
              </a:rPr>
              <a:t>FDA operates by altering low-frequency appearance components associated with weather effects such as fog, rain, and haze while preserving high-frequency structural information, allowing scalable and open-world robustness evaluation without additional annotation effort.</a:t>
            </a:r>
            <a:endParaRPr sz="2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cxnSp>
        <p:nvCxnSpPr>
          <p:cNvPr id="399" name="Google Shape;399;g3b43b8126d7_0_0"/>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400" name="Google Shape;400;g3b43b8126d7_0_0"/>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1" name="Google Shape;401;g3b43b8126d7_0_0"/>
          <p:cNvSpPr txBox="1"/>
          <p:nvPr>
            <p:ph idx="10" type="dt"/>
          </p:nvPr>
        </p:nvSpPr>
        <p:spPr>
          <a:xfrm>
            <a:off x="152400" y="6523037"/>
            <a:ext cx="2514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
        <p:nvSpPr>
          <p:cNvPr id="402" name="Google Shape;402;g3b43b8126d7_0_0"/>
          <p:cNvSpPr txBox="1"/>
          <p:nvPr>
            <p:ph idx="11" type="ftr"/>
          </p:nvPr>
        </p:nvSpPr>
        <p:spPr>
          <a:xfrm>
            <a:off x="3239068" y="6523037"/>
            <a:ext cx="3352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403" name="Google Shape;403;g3b43b8126d7_0_0"/>
          <p:cNvSpPr txBox="1"/>
          <p:nvPr>
            <p:ph idx="12" type="sldNum"/>
          </p:nvPr>
        </p:nvSpPr>
        <p:spPr>
          <a:xfrm>
            <a:off x="6629400" y="6497424"/>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19</a:t>
            </a:r>
            <a:endParaRPr sz="1200">
              <a:solidFill>
                <a:schemeClr val="dk1"/>
              </a:solidFill>
              <a:latin typeface="Times New Roman"/>
              <a:ea typeface="Times New Roman"/>
              <a:cs typeface="Times New Roman"/>
              <a:sym typeface="Times New Roman"/>
            </a:endParaRPr>
          </a:p>
        </p:txBody>
      </p:sp>
      <p:pic>
        <p:nvPicPr>
          <p:cNvPr descr="kle tech logo" id="404" name="Google Shape;404;g3b43b8126d7_0_0"/>
          <p:cNvPicPr preferRelativeResize="0"/>
          <p:nvPr/>
        </p:nvPicPr>
        <p:blipFill rotWithShape="1">
          <a:blip r:embed="rId3">
            <a:alphaModFix/>
          </a:blip>
          <a:srcRect b="0" l="0" r="0" t="0"/>
          <a:stretch/>
        </p:blipFill>
        <p:spPr>
          <a:xfrm>
            <a:off x="6096000" y="71124"/>
            <a:ext cx="2438401" cy="508084"/>
          </a:xfrm>
          <a:prstGeom prst="rect">
            <a:avLst/>
          </a:prstGeom>
          <a:noFill/>
          <a:ln>
            <a:noFill/>
          </a:ln>
        </p:spPr>
      </p:pic>
      <p:grpSp>
        <p:nvGrpSpPr>
          <p:cNvPr id="405" name="Google Shape;405;g3b43b8126d7_0_0"/>
          <p:cNvGrpSpPr/>
          <p:nvPr/>
        </p:nvGrpSpPr>
        <p:grpSpPr>
          <a:xfrm>
            <a:off x="549088" y="45375"/>
            <a:ext cx="3297265" cy="610232"/>
            <a:chOff x="533400" y="17929"/>
            <a:chExt cx="3297265" cy="660782"/>
          </a:xfrm>
        </p:grpSpPr>
        <p:pic>
          <p:nvPicPr>
            <p:cNvPr id="406" name="Google Shape;406;g3b43b8126d7_0_0"/>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407" name="Google Shape;407;g3b43b8126d7_0_0"/>
            <p:cNvSpPr/>
            <p:nvPr/>
          </p:nvSpPr>
          <p:spPr>
            <a:xfrm>
              <a:off x="1034365" y="17929"/>
              <a:ext cx="27963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408" name="Google Shape;408;g3b43b8126d7_0_0"/>
            <p:cNvSpPr/>
            <p:nvPr/>
          </p:nvSpPr>
          <p:spPr>
            <a:xfrm>
              <a:off x="1359454" y="253440"/>
              <a:ext cx="24711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409" name="Google Shape;409;g3b43b8126d7_0_0"/>
          <p:cNvSpPr/>
          <p:nvPr/>
        </p:nvSpPr>
        <p:spPr>
          <a:xfrm>
            <a:off x="436846" y="1138219"/>
            <a:ext cx="37026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410" name="Google Shape;410;g3b43b8126d7_0_0"/>
          <p:cNvSpPr txBox="1"/>
          <p:nvPr/>
        </p:nvSpPr>
        <p:spPr>
          <a:xfrm>
            <a:off x="500062" y="1095374"/>
            <a:ext cx="77748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100">
                <a:latin typeface="Times New Roman"/>
                <a:ea typeface="Times New Roman"/>
                <a:cs typeface="Times New Roman"/>
                <a:sym typeface="Times New Roman"/>
              </a:rPr>
              <a:t>FDA Working:</a:t>
            </a:r>
            <a:endParaRPr b="1" i="0" sz="2100" u="none" cap="none" strike="noStrike">
              <a:solidFill>
                <a:srgbClr val="000000"/>
              </a:solidFill>
              <a:latin typeface="Times New Roman"/>
              <a:ea typeface="Times New Roman"/>
              <a:cs typeface="Times New Roman"/>
              <a:sym typeface="Times New Roman"/>
            </a:endParaRPr>
          </a:p>
        </p:txBody>
      </p:sp>
      <p:sp>
        <p:nvSpPr>
          <p:cNvPr id="411" name="Google Shape;411;g3b43b8126d7_0_0"/>
          <p:cNvSpPr txBox="1"/>
          <p:nvPr/>
        </p:nvSpPr>
        <p:spPr>
          <a:xfrm>
            <a:off x="504824" y="1807368"/>
            <a:ext cx="7608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sp>
        <p:nvSpPr>
          <p:cNvPr id="412" name="Google Shape;412;g3b43b8126d7_0_0"/>
          <p:cNvSpPr txBox="1"/>
          <p:nvPr/>
        </p:nvSpPr>
        <p:spPr>
          <a:xfrm>
            <a:off x="504825" y="1859175"/>
            <a:ext cx="7608000" cy="4358400"/>
          </a:xfrm>
          <a:prstGeom prst="rect">
            <a:avLst/>
          </a:prstGeom>
          <a:noFill/>
          <a:ln>
            <a:noFill/>
          </a:ln>
        </p:spPr>
        <p:txBody>
          <a:bodyPr anchorCtr="0" anchor="t" bIns="91425" lIns="91425" spcFirstLastPara="1" rIns="91425" wrap="square" tIns="91425">
            <a:spAutoFit/>
          </a:bodyPr>
          <a:lstStyle/>
          <a:p>
            <a:pPr indent="-336550" lvl="0" marL="457200" rtl="0" algn="just">
              <a:lnSpc>
                <a:spcPct val="115000"/>
              </a:lnSpc>
              <a:spcBef>
                <a:spcPts val="120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Start with two images: one from the clear (source) domain and one from the adverse weather (target) domain.</a:t>
            </a:r>
            <a:endParaRPr sz="1700">
              <a:solidFill>
                <a:schemeClr val="dk1"/>
              </a:solidFill>
              <a:latin typeface="Times New Roman"/>
              <a:ea typeface="Times New Roman"/>
              <a:cs typeface="Times New Roman"/>
              <a:sym typeface="Times New Roman"/>
            </a:endParaRPr>
          </a:p>
          <a:p>
            <a:pPr indent="-336550" lvl="0" marL="457200" rtl="0" algn="just">
              <a:lnSpc>
                <a:spcPct val="115000"/>
              </a:lnSpc>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Convert both images from the spatial (pixel) domain into the frequency domain using a Fourier Transform.</a:t>
            </a:r>
            <a:endParaRPr sz="1700">
              <a:solidFill>
                <a:schemeClr val="dk1"/>
              </a:solidFill>
              <a:latin typeface="Times New Roman"/>
              <a:ea typeface="Times New Roman"/>
              <a:cs typeface="Times New Roman"/>
              <a:sym typeface="Times New Roman"/>
            </a:endParaRPr>
          </a:p>
          <a:p>
            <a:pPr indent="-336550" lvl="0" marL="457200" rtl="0" algn="just">
              <a:lnSpc>
                <a:spcPct val="115000"/>
              </a:lnSpc>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Separate the frequency representation into low-frequency and high-frequency components.</a:t>
            </a:r>
            <a:endParaRPr sz="1700">
              <a:solidFill>
                <a:schemeClr val="dk1"/>
              </a:solidFill>
              <a:latin typeface="Times New Roman"/>
              <a:ea typeface="Times New Roman"/>
              <a:cs typeface="Times New Roman"/>
              <a:sym typeface="Times New Roman"/>
            </a:endParaRPr>
          </a:p>
          <a:p>
            <a:pPr indent="-336550" lvl="0" marL="457200" rtl="0" algn="just">
              <a:lnSpc>
                <a:spcPct val="115000"/>
              </a:lnSpc>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Replace the low-frequency part of one image with the low-frequency part of the other image.</a:t>
            </a:r>
            <a:endParaRPr sz="1700">
              <a:solidFill>
                <a:schemeClr val="dk1"/>
              </a:solidFill>
              <a:latin typeface="Times New Roman"/>
              <a:ea typeface="Times New Roman"/>
              <a:cs typeface="Times New Roman"/>
              <a:sym typeface="Times New Roman"/>
            </a:endParaRPr>
          </a:p>
          <a:p>
            <a:pPr indent="-336550" lvl="0" marL="457200" rtl="0" algn="just">
              <a:lnSpc>
                <a:spcPct val="115000"/>
              </a:lnSpc>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Keep the high-frequency components unchanged so that object shapes and scene structure remain the same.</a:t>
            </a:r>
            <a:endParaRPr sz="1700">
              <a:solidFill>
                <a:schemeClr val="dk1"/>
              </a:solidFill>
              <a:latin typeface="Times New Roman"/>
              <a:ea typeface="Times New Roman"/>
              <a:cs typeface="Times New Roman"/>
              <a:sym typeface="Times New Roman"/>
            </a:endParaRPr>
          </a:p>
          <a:p>
            <a:pPr indent="-336550" lvl="0" marL="457200" rtl="0" algn="just">
              <a:lnSpc>
                <a:spcPct val="115000"/>
              </a:lnSpc>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Apply the inverse Fourier Transform to convert the modified frequency image back to the spatial domain.</a:t>
            </a:r>
            <a:endParaRPr sz="1700">
              <a:solidFill>
                <a:schemeClr val="dk1"/>
              </a:solidFill>
              <a:latin typeface="Times New Roman"/>
              <a:ea typeface="Times New Roman"/>
              <a:cs typeface="Times New Roman"/>
              <a:sym typeface="Times New Roman"/>
            </a:endParaRPr>
          </a:p>
          <a:p>
            <a:pPr indent="-336550" lvl="0" marL="457200" rtl="0" algn="just">
              <a:lnSpc>
                <a:spcPct val="115000"/>
              </a:lnSpc>
              <a:spcBef>
                <a:spcPts val="0"/>
              </a:spcBef>
              <a:spcAft>
                <a:spcPts val="0"/>
              </a:spcAft>
              <a:buClr>
                <a:schemeClr val="dk1"/>
              </a:buClr>
              <a:buSzPts val="1700"/>
              <a:buFont typeface="Times New Roman"/>
              <a:buAutoNum type="arabicPeriod"/>
            </a:pPr>
            <a:r>
              <a:rPr lang="en-US" sz="1700">
                <a:solidFill>
                  <a:schemeClr val="dk1"/>
                </a:solidFill>
                <a:latin typeface="Times New Roman"/>
                <a:ea typeface="Times New Roman"/>
                <a:cs typeface="Times New Roman"/>
                <a:sym typeface="Times New Roman"/>
              </a:rPr>
              <a:t>The final image retains original content but adopts the appearance and style of the target domain, improving robustness under adverse conditions.</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cxnSp>
        <p:nvCxnSpPr>
          <p:cNvPr id="417" name="Google Shape;417;g3b5eab210b8_0_10"/>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418" name="Google Shape;418;g3b5eab210b8_0_10"/>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9" name="Google Shape;419;g3b5eab210b8_0_10"/>
          <p:cNvSpPr txBox="1"/>
          <p:nvPr>
            <p:ph idx="11" type="ftr"/>
          </p:nvPr>
        </p:nvSpPr>
        <p:spPr>
          <a:xfrm>
            <a:off x="3239068" y="6523037"/>
            <a:ext cx="3352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420" name="Google Shape;420;g3b5eab210b8_0_10"/>
          <p:cNvSpPr txBox="1"/>
          <p:nvPr>
            <p:ph idx="12" type="sldNum"/>
          </p:nvPr>
        </p:nvSpPr>
        <p:spPr>
          <a:xfrm>
            <a:off x="6629400" y="6497424"/>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20</a:t>
            </a:r>
            <a:endParaRPr sz="1200">
              <a:solidFill>
                <a:schemeClr val="dk1"/>
              </a:solidFill>
              <a:latin typeface="Times New Roman"/>
              <a:ea typeface="Times New Roman"/>
              <a:cs typeface="Times New Roman"/>
              <a:sym typeface="Times New Roman"/>
            </a:endParaRPr>
          </a:p>
        </p:txBody>
      </p:sp>
      <p:pic>
        <p:nvPicPr>
          <p:cNvPr descr="kle tech logo" id="421" name="Google Shape;421;g3b5eab210b8_0_10"/>
          <p:cNvPicPr preferRelativeResize="0"/>
          <p:nvPr/>
        </p:nvPicPr>
        <p:blipFill rotWithShape="1">
          <a:blip r:embed="rId3">
            <a:alphaModFix/>
          </a:blip>
          <a:srcRect b="0" l="0" r="0" t="0"/>
          <a:stretch/>
        </p:blipFill>
        <p:spPr>
          <a:xfrm>
            <a:off x="6096000" y="71124"/>
            <a:ext cx="2438401" cy="508084"/>
          </a:xfrm>
          <a:prstGeom prst="rect">
            <a:avLst/>
          </a:prstGeom>
          <a:noFill/>
          <a:ln>
            <a:noFill/>
          </a:ln>
        </p:spPr>
      </p:pic>
      <p:grpSp>
        <p:nvGrpSpPr>
          <p:cNvPr id="422" name="Google Shape;422;g3b5eab210b8_0_10"/>
          <p:cNvGrpSpPr/>
          <p:nvPr/>
        </p:nvGrpSpPr>
        <p:grpSpPr>
          <a:xfrm>
            <a:off x="549088" y="45375"/>
            <a:ext cx="3297265" cy="610232"/>
            <a:chOff x="533400" y="17929"/>
            <a:chExt cx="3297265" cy="660782"/>
          </a:xfrm>
        </p:grpSpPr>
        <p:pic>
          <p:nvPicPr>
            <p:cNvPr id="423" name="Google Shape;423;g3b5eab210b8_0_10"/>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424" name="Google Shape;424;g3b5eab210b8_0_10"/>
            <p:cNvSpPr/>
            <p:nvPr/>
          </p:nvSpPr>
          <p:spPr>
            <a:xfrm>
              <a:off x="1034365" y="17929"/>
              <a:ext cx="27963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425" name="Google Shape;425;g3b5eab210b8_0_10"/>
            <p:cNvSpPr/>
            <p:nvPr/>
          </p:nvSpPr>
          <p:spPr>
            <a:xfrm>
              <a:off x="1359454" y="253440"/>
              <a:ext cx="24711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426" name="Google Shape;426;g3b5eab210b8_0_10"/>
          <p:cNvSpPr/>
          <p:nvPr/>
        </p:nvSpPr>
        <p:spPr>
          <a:xfrm>
            <a:off x="436846" y="1138219"/>
            <a:ext cx="37026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427" name="Google Shape;427;g3b5eab210b8_0_10"/>
          <p:cNvSpPr txBox="1"/>
          <p:nvPr/>
        </p:nvSpPr>
        <p:spPr>
          <a:xfrm>
            <a:off x="500062" y="1095374"/>
            <a:ext cx="77748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100">
                <a:latin typeface="Times New Roman"/>
                <a:ea typeface="Times New Roman"/>
                <a:cs typeface="Times New Roman"/>
                <a:sym typeface="Times New Roman"/>
              </a:rPr>
              <a:t>FDA Results:</a:t>
            </a:r>
            <a:endParaRPr b="1" i="0" sz="2100" u="none" cap="none" strike="noStrike">
              <a:solidFill>
                <a:srgbClr val="000000"/>
              </a:solidFill>
              <a:latin typeface="Times New Roman"/>
              <a:ea typeface="Times New Roman"/>
              <a:cs typeface="Times New Roman"/>
              <a:sym typeface="Times New Roman"/>
            </a:endParaRPr>
          </a:p>
        </p:txBody>
      </p:sp>
      <p:sp>
        <p:nvSpPr>
          <p:cNvPr id="428" name="Google Shape;428;g3b5eab210b8_0_10"/>
          <p:cNvSpPr txBox="1"/>
          <p:nvPr/>
        </p:nvSpPr>
        <p:spPr>
          <a:xfrm>
            <a:off x="504824" y="1807368"/>
            <a:ext cx="7608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sp>
        <p:nvSpPr>
          <p:cNvPr id="429" name="Google Shape;429;g3b5eab210b8_0_10"/>
          <p:cNvSpPr txBox="1"/>
          <p:nvPr/>
        </p:nvSpPr>
        <p:spPr>
          <a:xfrm>
            <a:off x="583350" y="1621200"/>
            <a:ext cx="7824900" cy="2667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application of Fourier Domain Adaptation (FDA) as a preprocessing step demonstrates its effectiveness in evaluating the robustness of the proposed zero-shot drivable affordance detection framework under adverse weather and lighting conditions. </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FDA modifies appearance-level characteristics such as illumination and contrast while preserving the structural content of the scene. </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Qualitative results indicate that the model maintains stable localization of drivable regions even after appearance adaptation, with predicted masks remaining well-aligned to the road surface. </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This suggests that the vision–language-based segmentation model relies primarily on semantic and structural cues rather than low-level visual appearance. </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Overall, the FDA results confirm the robustness of the proposed approach without requiring retraining, supporting its suitability for open-world driving scenarios.</a:t>
            </a:r>
            <a:endParaRPr sz="1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30" name="Google Shape;430;g3b5eab210b8_0_10"/>
          <p:cNvSpPr txBox="1"/>
          <p:nvPr>
            <p:ph idx="10" type="dt"/>
          </p:nvPr>
        </p:nvSpPr>
        <p:spPr>
          <a:xfrm>
            <a:off x="152400" y="6523037"/>
            <a:ext cx="2514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cxnSp>
        <p:nvCxnSpPr>
          <p:cNvPr id="435" name="Google Shape;435;g3b5eab210b8_0_29"/>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436" name="Google Shape;436;g3b5eab210b8_0_29"/>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7" name="Google Shape;437;g3b5eab210b8_0_29"/>
          <p:cNvSpPr txBox="1"/>
          <p:nvPr>
            <p:ph idx="11" type="ftr"/>
          </p:nvPr>
        </p:nvSpPr>
        <p:spPr>
          <a:xfrm>
            <a:off x="3239068" y="6523037"/>
            <a:ext cx="3352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438" name="Google Shape;438;g3b5eab210b8_0_29"/>
          <p:cNvSpPr txBox="1"/>
          <p:nvPr>
            <p:ph idx="12" type="sldNum"/>
          </p:nvPr>
        </p:nvSpPr>
        <p:spPr>
          <a:xfrm>
            <a:off x="6629400" y="6497424"/>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21</a:t>
            </a:r>
            <a:endParaRPr sz="1200">
              <a:solidFill>
                <a:schemeClr val="dk1"/>
              </a:solidFill>
              <a:latin typeface="Times New Roman"/>
              <a:ea typeface="Times New Roman"/>
              <a:cs typeface="Times New Roman"/>
              <a:sym typeface="Times New Roman"/>
            </a:endParaRPr>
          </a:p>
        </p:txBody>
      </p:sp>
      <p:pic>
        <p:nvPicPr>
          <p:cNvPr descr="kle tech logo" id="439" name="Google Shape;439;g3b5eab210b8_0_29"/>
          <p:cNvPicPr preferRelativeResize="0"/>
          <p:nvPr/>
        </p:nvPicPr>
        <p:blipFill rotWithShape="1">
          <a:blip r:embed="rId3">
            <a:alphaModFix/>
          </a:blip>
          <a:srcRect b="0" l="0" r="0" t="0"/>
          <a:stretch/>
        </p:blipFill>
        <p:spPr>
          <a:xfrm>
            <a:off x="6096000" y="71124"/>
            <a:ext cx="2438401" cy="508084"/>
          </a:xfrm>
          <a:prstGeom prst="rect">
            <a:avLst/>
          </a:prstGeom>
          <a:noFill/>
          <a:ln>
            <a:noFill/>
          </a:ln>
        </p:spPr>
      </p:pic>
      <p:grpSp>
        <p:nvGrpSpPr>
          <p:cNvPr id="440" name="Google Shape;440;g3b5eab210b8_0_29"/>
          <p:cNvGrpSpPr/>
          <p:nvPr/>
        </p:nvGrpSpPr>
        <p:grpSpPr>
          <a:xfrm>
            <a:off x="549088" y="45375"/>
            <a:ext cx="3297265" cy="610232"/>
            <a:chOff x="533400" y="17929"/>
            <a:chExt cx="3297265" cy="660782"/>
          </a:xfrm>
        </p:grpSpPr>
        <p:pic>
          <p:nvPicPr>
            <p:cNvPr id="441" name="Google Shape;441;g3b5eab210b8_0_29"/>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442" name="Google Shape;442;g3b5eab210b8_0_29"/>
            <p:cNvSpPr/>
            <p:nvPr/>
          </p:nvSpPr>
          <p:spPr>
            <a:xfrm>
              <a:off x="1034365" y="17929"/>
              <a:ext cx="27963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443" name="Google Shape;443;g3b5eab210b8_0_29"/>
            <p:cNvSpPr/>
            <p:nvPr/>
          </p:nvSpPr>
          <p:spPr>
            <a:xfrm>
              <a:off x="1359454" y="253440"/>
              <a:ext cx="24711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444" name="Google Shape;444;g3b5eab210b8_0_29"/>
          <p:cNvSpPr/>
          <p:nvPr/>
        </p:nvSpPr>
        <p:spPr>
          <a:xfrm>
            <a:off x="436846" y="1138219"/>
            <a:ext cx="37026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445" name="Google Shape;445;g3b5eab210b8_0_29"/>
          <p:cNvSpPr txBox="1"/>
          <p:nvPr/>
        </p:nvSpPr>
        <p:spPr>
          <a:xfrm>
            <a:off x="177112" y="1138224"/>
            <a:ext cx="77748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100">
                <a:latin typeface="Times New Roman"/>
                <a:ea typeface="Times New Roman"/>
                <a:cs typeface="Times New Roman"/>
                <a:sym typeface="Times New Roman"/>
              </a:rPr>
              <a:t>Qualitative visual </a:t>
            </a:r>
            <a:r>
              <a:rPr b="1" lang="en-US" sz="2100">
                <a:latin typeface="Times New Roman"/>
                <a:ea typeface="Times New Roman"/>
                <a:cs typeface="Times New Roman"/>
                <a:sym typeface="Times New Roman"/>
              </a:rPr>
              <a:t>Results for adverse conditions :</a:t>
            </a:r>
            <a:endParaRPr b="1" i="0" sz="2100" u="none" cap="none" strike="noStrike">
              <a:solidFill>
                <a:srgbClr val="000000"/>
              </a:solidFill>
              <a:latin typeface="Times New Roman"/>
              <a:ea typeface="Times New Roman"/>
              <a:cs typeface="Times New Roman"/>
              <a:sym typeface="Times New Roman"/>
            </a:endParaRPr>
          </a:p>
        </p:txBody>
      </p:sp>
      <p:pic>
        <p:nvPicPr>
          <p:cNvPr id="446" name="Google Shape;446;g3b5eab210b8_0_29"/>
          <p:cNvPicPr preferRelativeResize="0"/>
          <p:nvPr/>
        </p:nvPicPr>
        <p:blipFill>
          <a:blip r:embed="rId5">
            <a:alphaModFix/>
          </a:blip>
          <a:stretch>
            <a:fillRect/>
          </a:stretch>
        </p:blipFill>
        <p:spPr>
          <a:xfrm>
            <a:off x="177100" y="2359738"/>
            <a:ext cx="4041225" cy="2858001"/>
          </a:xfrm>
          <a:prstGeom prst="rect">
            <a:avLst/>
          </a:prstGeom>
          <a:noFill/>
          <a:ln>
            <a:noFill/>
          </a:ln>
        </p:spPr>
      </p:pic>
      <p:pic>
        <p:nvPicPr>
          <p:cNvPr id="447" name="Google Shape;447;g3b5eab210b8_0_29"/>
          <p:cNvPicPr preferRelativeResize="0"/>
          <p:nvPr/>
        </p:nvPicPr>
        <p:blipFill>
          <a:blip r:embed="rId6">
            <a:alphaModFix/>
          </a:blip>
          <a:stretch>
            <a:fillRect/>
          </a:stretch>
        </p:blipFill>
        <p:spPr>
          <a:xfrm>
            <a:off x="4331300" y="2359750"/>
            <a:ext cx="4620876" cy="2858001"/>
          </a:xfrm>
          <a:prstGeom prst="rect">
            <a:avLst/>
          </a:prstGeom>
          <a:noFill/>
          <a:ln>
            <a:noFill/>
          </a:ln>
        </p:spPr>
      </p:pic>
      <p:sp>
        <p:nvSpPr>
          <p:cNvPr id="448" name="Google Shape;448;g3b5eab210b8_0_29"/>
          <p:cNvSpPr txBox="1"/>
          <p:nvPr/>
        </p:nvSpPr>
        <p:spPr>
          <a:xfrm>
            <a:off x="199700" y="5352400"/>
            <a:ext cx="3993900" cy="6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Figure: </a:t>
            </a:r>
            <a:r>
              <a:rPr lang="en-US" sz="2100">
                <a:solidFill>
                  <a:schemeClr val="dk1"/>
                </a:solidFill>
                <a:latin typeface="Calibri"/>
                <a:ea typeface="Calibri"/>
                <a:cs typeface="Calibri"/>
                <a:sym typeface="Calibri"/>
              </a:rPr>
              <a:t>Original Foggy Image</a:t>
            </a:r>
            <a:endParaRPr sz="2100">
              <a:solidFill>
                <a:schemeClr val="dk1"/>
              </a:solidFill>
              <a:latin typeface="Calibri"/>
              <a:ea typeface="Calibri"/>
              <a:cs typeface="Calibri"/>
              <a:sym typeface="Calibri"/>
            </a:endParaRPr>
          </a:p>
        </p:txBody>
      </p:sp>
      <p:sp>
        <p:nvSpPr>
          <p:cNvPr id="449" name="Google Shape;449;g3b5eab210b8_0_29"/>
          <p:cNvSpPr txBox="1"/>
          <p:nvPr/>
        </p:nvSpPr>
        <p:spPr>
          <a:xfrm>
            <a:off x="4572000" y="5352400"/>
            <a:ext cx="4380300" cy="6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Figure: Drivable affordance detected</a:t>
            </a:r>
            <a:endParaRPr sz="2100">
              <a:solidFill>
                <a:schemeClr val="dk1"/>
              </a:solidFill>
              <a:latin typeface="Calibri"/>
              <a:ea typeface="Calibri"/>
              <a:cs typeface="Calibri"/>
              <a:sym typeface="Calibri"/>
            </a:endParaRPr>
          </a:p>
        </p:txBody>
      </p:sp>
      <p:sp>
        <p:nvSpPr>
          <p:cNvPr id="450" name="Google Shape;450;g3b5eab210b8_0_29"/>
          <p:cNvSpPr txBox="1"/>
          <p:nvPr>
            <p:ph idx="10" type="dt"/>
          </p:nvPr>
        </p:nvSpPr>
        <p:spPr>
          <a:xfrm>
            <a:off x="152400" y="6523037"/>
            <a:ext cx="2514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cxnSp>
        <p:nvCxnSpPr>
          <p:cNvPr id="455" name="Google Shape;455;g3b5eab210b8_0_73"/>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456" name="Google Shape;456;g3b5eab210b8_0_73"/>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g3b5eab210b8_0_73"/>
          <p:cNvSpPr txBox="1"/>
          <p:nvPr>
            <p:ph idx="11" type="ftr"/>
          </p:nvPr>
        </p:nvSpPr>
        <p:spPr>
          <a:xfrm>
            <a:off x="3239068" y="6523037"/>
            <a:ext cx="3352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458" name="Google Shape;458;g3b5eab210b8_0_73"/>
          <p:cNvSpPr txBox="1"/>
          <p:nvPr>
            <p:ph idx="12" type="sldNum"/>
          </p:nvPr>
        </p:nvSpPr>
        <p:spPr>
          <a:xfrm>
            <a:off x="6629400" y="6497424"/>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22</a:t>
            </a:r>
            <a:endParaRPr sz="1200">
              <a:solidFill>
                <a:schemeClr val="dk1"/>
              </a:solidFill>
              <a:latin typeface="Times New Roman"/>
              <a:ea typeface="Times New Roman"/>
              <a:cs typeface="Times New Roman"/>
              <a:sym typeface="Times New Roman"/>
            </a:endParaRPr>
          </a:p>
        </p:txBody>
      </p:sp>
      <p:pic>
        <p:nvPicPr>
          <p:cNvPr descr="kle tech logo" id="459" name="Google Shape;459;g3b5eab210b8_0_73"/>
          <p:cNvPicPr preferRelativeResize="0"/>
          <p:nvPr/>
        </p:nvPicPr>
        <p:blipFill rotWithShape="1">
          <a:blip r:embed="rId3">
            <a:alphaModFix/>
          </a:blip>
          <a:srcRect b="0" l="0" r="0" t="0"/>
          <a:stretch/>
        </p:blipFill>
        <p:spPr>
          <a:xfrm>
            <a:off x="6096000" y="71124"/>
            <a:ext cx="2438401" cy="508084"/>
          </a:xfrm>
          <a:prstGeom prst="rect">
            <a:avLst/>
          </a:prstGeom>
          <a:noFill/>
          <a:ln>
            <a:noFill/>
          </a:ln>
        </p:spPr>
      </p:pic>
      <p:grpSp>
        <p:nvGrpSpPr>
          <p:cNvPr id="460" name="Google Shape;460;g3b5eab210b8_0_73"/>
          <p:cNvGrpSpPr/>
          <p:nvPr/>
        </p:nvGrpSpPr>
        <p:grpSpPr>
          <a:xfrm>
            <a:off x="549088" y="45375"/>
            <a:ext cx="3297265" cy="610232"/>
            <a:chOff x="533400" y="17929"/>
            <a:chExt cx="3297265" cy="660782"/>
          </a:xfrm>
        </p:grpSpPr>
        <p:pic>
          <p:nvPicPr>
            <p:cNvPr id="461" name="Google Shape;461;g3b5eab210b8_0_73"/>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462" name="Google Shape;462;g3b5eab210b8_0_73"/>
            <p:cNvSpPr/>
            <p:nvPr/>
          </p:nvSpPr>
          <p:spPr>
            <a:xfrm>
              <a:off x="1034365" y="17929"/>
              <a:ext cx="27963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463" name="Google Shape;463;g3b5eab210b8_0_73"/>
            <p:cNvSpPr/>
            <p:nvPr/>
          </p:nvSpPr>
          <p:spPr>
            <a:xfrm>
              <a:off x="1359454" y="253440"/>
              <a:ext cx="24711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464" name="Google Shape;464;g3b5eab210b8_0_73"/>
          <p:cNvSpPr/>
          <p:nvPr/>
        </p:nvSpPr>
        <p:spPr>
          <a:xfrm>
            <a:off x="436846" y="1138219"/>
            <a:ext cx="37026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465" name="Google Shape;465;g3b5eab210b8_0_73"/>
          <p:cNvSpPr txBox="1"/>
          <p:nvPr/>
        </p:nvSpPr>
        <p:spPr>
          <a:xfrm>
            <a:off x="177112" y="1138224"/>
            <a:ext cx="77748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100">
                <a:latin typeface="Times New Roman"/>
                <a:ea typeface="Times New Roman"/>
                <a:cs typeface="Times New Roman"/>
                <a:sym typeface="Times New Roman"/>
              </a:rPr>
              <a:t>Qualitative visual Results for adverse conditions :</a:t>
            </a:r>
            <a:endParaRPr b="1" i="0" sz="2100" u="none" cap="none" strike="noStrike">
              <a:solidFill>
                <a:srgbClr val="000000"/>
              </a:solidFill>
              <a:latin typeface="Times New Roman"/>
              <a:ea typeface="Times New Roman"/>
              <a:cs typeface="Times New Roman"/>
              <a:sym typeface="Times New Roman"/>
            </a:endParaRPr>
          </a:p>
        </p:txBody>
      </p:sp>
      <p:pic>
        <p:nvPicPr>
          <p:cNvPr id="466" name="Google Shape;466;g3b5eab210b8_0_73"/>
          <p:cNvPicPr preferRelativeResize="0"/>
          <p:nvPr/>
        </p:nvPicPr>
        <p:blipFill>
          <a:blip r:embed="rId5">
            <a:alphaModFix/>
          </a:blip>
          <a:stretch>
            <a:fillRect/>
          </a:stretch>
        </p:blipFill>
        <p:spPr>
          <a:xfrm>
            <a:off x="184475" y="2415569"/>
            <a:ext cx="4026499" cy="3019874"/>
          </a:xfrm>
          <a:prstGeom prst="rect">
            <a:avLst/>
          </a:prstGeom>
          <a:noFill/>
          <a:ln>
            <a:noFill/>
          </a:ln>
        </p:spPr>
      </p:pic>
      <p:pic>
        <p:nvPicPr>
          <p:cNvPr id="467" name="Google Shape;467;g3b5eab210b8_0_73"/>
          <p:cNvPicPr preferRelativeResize="0"/>
          <p:nvPr/>
        </p:nvPicPr>
        <p:blipFill>
          <a:blip r:embed="rId6">
            <a:alphaModFix/>
          </a:blip>
          <a:stretch>
            <a:fillRect/>
          </a:stretch>
        </p:blipFill>
        <p:spPr>
          <a:xfrm>
            <a:off x="4389650" y="2415575"/>
            <a:ext cx="4628224" cy="3019874"/>
          </a:xfrm>
          <a:prstGeom prst="rect">
            <a:avLst/>
          </a:prstGeom>
          <a:noFill/>
          <a:ln>
            <a:noFill/>
          </a:ln>
        </p:spPr>
      </p:pic>
      <p:sp>
        <p:nvSpPr>
          <p:cNvPr id="468" name="Google Shape;468;g3b5eab210b8_0_73"/>
          <p:cNvSpPr txBox="1"/>
          <p:nvPr/>
        </p:nvSpPr>
        <p:spPr>
          <a:xfrm>
            <a:off x="200775" y="5435450"/>
            <a:ext cx="3993900" cy="6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Figure: Original Haze Image</a:t>
            </a:r>
            <a:endParaRPr sz="2100">
              <a:solidFill>
                <a:schemeClr val="dk1"/>
              </a:solidFill>
              <a:latin typeface="Calibri"/>
              <a:ea typeface="Calibri"/>
              <a:cs typeface="Calibri"/>
              <a:sym typeface="Calibri"/>
            </a:endParaRPr>
          </a:p>
        </p:txBody>
      </p:sp>
      <p:sp>
        <p:nvSpPr>
          <p:cNvPr id="469" name="Google Shape;469;g3b5eab210b8_0_73"/>
          <p:cNvSpPr txBox="1"/>
          <p:nvPr/>
        </p:nvSpPr>
        <p:spPr>
          <a:xfrm>
            <a:off x="4513613" y="5435450"/>
            <a:ext cx="4380300" cy="6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Figure: Drivable affordance detected</a:t>
            </a:r>
            <a:endParaRPr sz="2100">
              <a:solidFill>
                <a:schemeClr val="dk1"/>
              </a:solidFill>
              <a:latin typeface="Calibri"/>
              <a:ea typeface="Calibri"/>
              <a:cs typeface="Calibri"/>
              <a:sym typeface="Calibri"/>
            </a:endParaRPr>
          </a:p>
        </p:txBody>
      </p:sp>
      <p:sp>
        <p:nvSpPr>
          <p:cNvPr id="470" name="Google Shape;470;g3b5eab210b8_0_73"/>
          <p:cNvSpPr txBox="1"/>
          <p:nvPr>
            <p:ph idx="10" type="dt"/>
          </p:nvPr>
        </p:nvSpPr>
        <p:spPr>
          <a:xfrm>
            <a:off x="152400" y="6523037"/>
            <a:ext cx="2514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cxnSp>
        <p:nvCxnSpPr>
          <p:cNvPr id="475" name="Google Shape;475;g3b5eab210b8_0_90"/>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476" name="Google Shape;476;g3b5eab210b8_0_90"/>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g3b5eab210b8_0_90"/>
          <p:cNvSpPr txBox="1"/>
          <p:nvPr>
            <p:ph idx="11" type="ftr"/>
          </p:nvPr>
        </p:nvSpPr>
        <p:spPr>
          <a:xfrm>
            <a:off x="3239068" y="6523037"/>
            <a:ext cx="3352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478" name="Google Shape;478;g3b5eab210b8_0_90"/>
          <p:cNvSpPr txBox="1"/>
          <p:nvPr>
            <p:ph idx="12" type="sldNum"/>
          </p:nvPr>
        </p:nvSpPr>
        <p:spPr>
          <a:xfrm>
            <a:off x="6629400" y="6497424"/>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23</a:t>
            </a:r>
            <a:endParaRPr sz="1200">
              <a:solidFill>
                <a:schemeClr val="dk1"/>
              </a:solidFill>
              <a:latin typeface="Times New Roman"/>
              <a:ea typeface="Times New Roman"/>
              <a:cs typeface="Times New Roman"/>
              <a:sym typeface="Times New Roman"/>
            </a:endParaRPr>
          </a:p>
        </p:txBody>
      </p:sp>
      <p:pic>
        <p:nvPicPr>
          <p:cNvPr descr="kle tech logo" id="479" name="Google Shape;479;g3b5eab210b8_0_90"/>
          <p:cNvPicPr preferRelativeResize="0"/>
          <p:nvPr/>
        </p:nvPicPr>
        <p:blipFill rotWithShape="1">
          <a:blip r:embed="rId3">
            <a:alphaModFix/>
          </a:blip>
          <a:srcRect b="0" l="0" r="0" t="0"/>
          <a:stretch/>
        </p:blipFill>
        <p:spPr>
          <a:xfrm>
            <a:off x="6096000" y="71124"/>
            <a:ext cx="2438401" cy="508084"/>
          </a:xfrm>
          <a:prstGeom prst="rect">
            <a:avLst/>
          </a:prstGeom>
          <a:noFill/>
          <a:ln>
            <a:noFill/>
          </a:ln>
        </p:spPr>
      </p:pic>
      <p:grpSp>
        <p:nvGrpSpPr>
          <p:cNvPr id="480" name="Google Shape;480;g3b5eab210b8_0_90"/>
          <p:cNvGrpSpPr/>
          <p:nvPr/>
        </p:nvGrpSpPr>
        <p:grpSpPr>
          <a:xfrm>
            <a:off x="549088" y="45375"/>
            <a:ext cx="3297265" cy="610232"/>
            <a:chOff x="533400" y="17929"/>
            <a:chExt cx="3297265" cy="660782"/>
          </a:xfrm>
        </p:grpSpPr>
        <p:pic>
          <p:nvPicPr>
            <p:cNvPr id="481" name="Google Shape;481;g3b5eab210b8_0_90"/>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482" name="Google Shape;482;g3b5eab210b8_0_90"/>
            <p:cNvSpPr/>
            <p:nvPr/>
          </p:nvSpPr>
          <p:spPr>
            <a:xfrm>
              <a:off x="1034365" y="17929"/>
              <a:ext cx="27963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483" name="Google Shape;483;g3b5eab210b8_0_90"/>
            <p:cNvSpPr/>
            <p:nvPr/>
          </p:nvSpPr>
          <p:spPr>
            <a:xfrm>
              <a:off x="1359454" y="253440"/>
              <a:ext cx="24711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484" name="Google Shape;484;g3b5eab210b8_0_90"/>
          <p:cNvSpPr/>
          <p:nvPr/>
        </p:nvSpPr>
        <p:spPr>
          <a:xfrm>
            <a:off x="436846" y="1138219"/>
            <a:ext cx="37026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485" name="Google Shape;485;g3b5eab210b8_0_90"/>
          <p:cNvSpPr txBox="1"/>
          <p:nvPr/>
        </p:nvSpPr>
        <p:spPr>
          <a:xfrm>
            <a:off x="177112" y="1138224"/>
            <a:ext cx="77748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100">
                <a:latin typeface="Times New Roman"/>
                <a:ea typeface="Times New Roman"/>
                <a:cs typeface="Times New Roman"/>
                <a:sym typeface="Times New Roman"/>
              </a:rPr>
              <a:t>Qualitative visual Results for adverse conditions :</a:t>
            </a:r>
            <a:endParaRPr b="1" i="0" sz="2100" u="none" cap="none" strike="noStrike">
              <a:solidFill>
                <a:srgbClr val="000000"/>
              </a:solidFill>
              <a:latin typeface="Times New Roman"/>
              <a:ea typeface="Times New Roman"/>
              <a:cs typeface="Times New Roman"/>
              <a:sym typeface="Times New Roman"/>
            </a:endParaRPr>
          </a:p>
        </p:txBody>
      </p:sp>
      <p:pic>
        <p:nvPicPr>
          <p:cNvPr id="486" name="Google Shape;486;g3b5eab210b8_0_90"/>
          <p:cNvPicPr preferRelativeResize="0"/>
          <p:nvPr/>
        </p:nvPicPr>
        <p:blipFill>
          <a:blip r:embed="rId5">
            <a:alphaModFix/>
          </a:blip>
          <a:stretch>
            <a:fillRect/>
          </a:stretch>
        </p:blipFill>
        <p:spPr>
          <a:xfrm>
            <a:off x="184475" y="2359752"/>
            <a:ext cx="4026499" cy="2750676"/>
          </a:xfrm>
          <a:prstGeom prst="rect">
            <a:avLst/>
          </a:prstGeom>
          <a:noFill/>
          <a:ln>
            <a:noFill/>
          </a:ln>
        </p:spPr>
      </p:pic>
      <p:pic>
        <p:nvPicPr>
          <p:cNvPr id="487" name="Google Shape;487;g3b5eab210b8_0_90"/>
          <p:cNvPicPr preferRelativeResize="0"/>
          <p:nvPr/>
        </p:nvPicPr>
        <p:blipFill>
          <a:blip r:embed="rId6">
            <a:alphaModFix/>
          </a:blip>
          <a:stretch>
            <a:fillRect/>
          </a:stretch>
        </p:blipFill>
        <p:spPr>
          <a:xfrm>
            <a:off x="4363375" y="2359751"/>
            <a:ext cx="4628224" cy="2750676"/>
          </a:xfrm>
          <a:prstGeom prst="rect">
            <a:avLst/>
          </a:prstGeom>
          <a:noFill/>
          <a:ln>
            <a:noFill/>
          </a:ln>
        </p:spPr>
      </p:pic>
      <p:sp>
        <p:nvSpPr>
          <p:cNvPr id="488" name="Google Shape;488;g3b5eab210b8_0_90"/>
          <p:cNvSpPr txBox="1"/>
          <p:nvPr/>
        </p:nvSpPr>
        <p:spPr>
          <a:xfrm>
            <a:off x="200775" y="5110425"/>
            <a:ext cx="3993900" cy="6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Figure: Original Rainy Image</a:t>
            </a:r>
            <a:endParaRPr sz="2100">
              <a:solidFill>
                <a:schemeClr val="dk1"/>
              </a:solidFill>
              <a:latin typeface="Calibri"/>
              <a:ea typeface="Calibri"/>
              <a:cs typeface="Calibri"/>
              <a:sym typeface="Calibri"/>
            </a:endParaRPr>
          </a:p>
        </p:txBody>
      </p:sp>
      <p:sp>
        <p:nvSpPr>
          <p:cNvPr id="489" name="Google Shape;489;g3b5eab210b8_0_90"/>
          <p:cNvSpPr txBox="1"/>
          <p:nvPr/>
        </p:nvSpPr>
        <p:spPr>
          <a:xfrm>
            <a:off x="4487325" y="5110425"/>
            <a:ext cx="4380300" cy="6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Figure: Drivable affordance detected</a:t>
            </a:r>
            <a:endParaRPr sz="2100">
              <a:solidFill>
                <a:schemeClr val="dk1"/>
              </a:solidFill>
              <a:latin typeface="Calibri"/>
              <a:ea typeface="Calibri"/>
              <a:cs typeface="Calibri"/>
              <a:sym typeface="Calibri"/>
            </a:endParaRPr>
          </a:p>
        </p:txBody>
      </p:sp>
      <p:sp>
        <p:nvSpPr>
          <p:cNvPr id="490" name="Google Shape;490;g3b5eab210b8_0_90"/>
          <p:cNvSpPr txBox="1"/>
          <p:nvPr>
            <p:ph idx="10" type="dt"/>
          </p:nvPr>
        </p:nvSpPr>
        <p:spPr>
          <a:xfrm>
            <a:off x="152400" y="6523037"/>
            <a:ext cx="2514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cxnSp>
        <p:nvCxnSpPr>
          <p:cNvPr id="495" name="Google Shape;495;g3b5eab210b8_0_117"/>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496" name="Google Shape;496;g3b5eab210b8_0_117"/>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7" name="Google Shape;497;g3b5eab210b8_0_117"/>
          <p:cNvSpPr txBox="1"/>
          <p:nvPr>
            <p:ph idx="11" type="ftr"/>
          </p:nvPr>
        </p:nvSpPr>
        <p:spPr>
          <a:xfrm>
            <a:off x="3239068" y="6523037"/>
            <a:ext cx="3352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498" name="Google Shape;498;g3b5eab210b8_0_117"/>
          <p:cNvSpPr txBox="1"/>
          <p:nvPr>
            <p:ph idx="12" type="sldNum"/>
          </p:nvPr>
        </p:nvSpPr>
        <p:spPr>
          <a:xfrm>
            <a:off x="6629400" y="6497424"/>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24</a:t>
            </a:r>
            <a:endParaRPr sz="1200">
              <a:solidFill>
                <a:schemeClr val="dk1"/>
              </a:solidFill>
              <a:latin typeface="Times New Roman"/>
              <a:ea typeface="Times New Roman"/>
              <a:cs typeface="Times New Roman"/>
              <a:sym typeface="Times New Roman"/>
            </a:endParaRPr>
          </a:p>
        </p:txBody>
      </p:sp>
      <p:pic>
        <p:nvPicPr>
          <p:cNvPr descr="kle tech logo" id="499" name="Google Shape;499;g3b5eab210b8_0_117"/>
          <p:cNvPicPr preferRelativeResize="0"/>
          <p:nvPr/>
        </p:nvPicPr>
        <p:blipFill rotWithShape="1">
          <a:blip r:embed="rId3">
            <a:alphaModFix/>
          </a:blip>
          <a:srcRect b="0" l="0" r="0" t="0"/>
          <a:stretch/>
        </p:blipFill>
        <p:spPr>
          <a:xfrm>
            <a:off x="6096000" y="71124"/>
            <a:ext cx="2438401" cy="508084"/>
          </a:xfrm>
          <a:prstGeom prst="rect">
            <a:avLst/>
          </a:prstGeom>
          <a:noFill/>
          <a:ln>
            <a:noFill/>
          </a:ln>
        </p:spPr>
      </p:pic>
      <p:grpSp>
        <p:nvGrpSpPr>
          <p:cNvPr id="500" name="Google Shape;500;g3b5eab210b8_0_117"/>
          <p:cNvGrpSpPr/>
          <p:nvPr/>
        </p:nvGrpSpPr>
        <p:grpSpPr>
          <a:xfrm>
            <a:off x="549088" y="45375"/>
            <a:ext cx="3297265" cy="610232"/>
            <a:chOff x="533400" y="17929"/>
            <a:chExt cx="3297265" cy="660782"/>
          </a:xfrm>
        </p:grpSpPr>
        <p:pic>
          <p:nvPicPr>
            <p:cNvPr id="501" name="Google Shape;501;g3b5eab210b8_0_117"/>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502" name="Google Shape;502;g3b5eab210b8_0_117"/>
            <p:cNvSpPr/>
            <p:nvPr/>
          </p:nvSpPr>
          <p:spPr>
            <a:xfrm>
              <a:off x="1034365" y="17929"/>
              <a:ext cx="27963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503" name="Google Shape;503;g3b5eab210b8_0_117"/>
            <p:cNvSpPr/>
            <p:nvPr/>
          </p:nvSpPr>
          <p:spPr>
            <a:xfrm>
              <a:off x="1359454" y="253440"/>
              <a:ext cx="24711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504" name="Google Shape;504;g3b5eab210b8_0_117"/>
          <p:cNvSpPr/>
          <p:nvPr/>
        </p:nvSpPr>
        <p:spPr>
          <a:xfrm>
            <a:off x="436846" y="1138219"/>
            <a:ext cx="37026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505" name="Google Shape;505;g3b5eab210b8_0_117"/>
          <p:cNvSpPr txBox="1"/>
          <p:nvPr/>
        </p:nvSpPr>
        <p:spPr>
          <a:xfrm>
            <a:off x="500062" y="1095374"/>
            <a:ext cx="77748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100">
                <a:latin typeface="Times New Roman"/>
                <a:ea typeface="Times New Roman"/>
                <a:cs typeface="Times New Roman"/>
                <a:sym typeface="Times New Roman"/>
              </a:rPr>
              <a:t>Conclusion: </a:t>
            </a:r>
            <a:endParaRPr b="1" i="0" sz="2100" u="none" cap="none" strike="noStrike">
              <a:solidFill>
                <a:srgbClr val="000000"/>
              </a:solidFill>
              <a:latin typeface="Times New Roman"/>
              <a:ea typeface="Times New Roman"/>
              <a:cs typeface="Times New Roman"/>
              <a:sym typeface="Times New Roman"/>
            </a:endParaRPr>
          </a:p>
        </p:txBody>
      </p:sp>
      <p:sp>
        <p:nvSpPr>
          <p:cNvPr id="506" name="Google Shape;506;g3b5eab210b8_0_117"/>
          <p:cNvSpPr txBox="1"/>
          <p:nvPr/>
        </p:nvSpPr>
        <p:spPr>
          <a:xfrm>
            <a:off x="504824" y="1807368"/>
            <a:ext cx="7608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sp>
        <p:nvSpPr>
          <p:cNvPr id="507" name="Google Shape;507;g3b5eab210b8_0_117"/>
          <p:cNvSpPr txBox="1"/>
          <p:nvPr/>
        </p:nvSpPr>
        <p:spPr>
          <a:xfrm>
            <a:off x="583350" y="1621200"/>
            <a:ext cx="7824900" cy="4388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This work demonstrates that vision–language models can be effectively leveraged for zero-shot drivable affordance detection, enabling action-centric scene understanding without task-specific training or extensive annotations.</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The use of affordance-focused prompt design and aggregation improves spatial consistency and aligns semantic embeddings with navigable road regions across diverse driving scenarios.</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Robustness evaluation under adverse weather and lighting conditions shows that the proposed framework maintains stable drivable region localization despite visual degradation, highlighting its reliability in real-world environments.</a:t>
            </a: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Overall, the proposed approach offers a scalable and interpretable solution for open-world perception, providing a strong foundation for future extensions toward multi-affordance reasoning and deployment in autonomous driving systems.</a:t>
            </a:r>
            <a:endParaRPr sz="1800">
              <a:solidFill>
                <a:schemeClr val="dk1"/>
              </a:solidFill>
              <a:latin typeface="Times New Roman"/>
              <a:ea typeface="Times New Roman"/>
              <a:cs typeface="Times New Roman"/>
              <a:sym typeface="Times New Roman"/>
            </a:endParaRPr>
          </a:p>
        </p:txBody>
      </p:sp>
      <p:sp>
        <p:nvSpPr>
          <p:cNvPr id="508" name="Google Shape;508;g3b5eab210b8_0_117"/>
          <p:cNvSpPr txBox="1"/>
          <p:nvPr>
            <p:ph idx="10" type="dt"/>
          </p:nvPr>
        </p:nvSpPr>
        <p:spPr>
          <a:xfrm>
            <a:off x="152400" y="6523037"/>
            <a:ext cx="2514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cxnSp>
        <p:nvCxnSpPr>
          <p:cNvPr id="513" name="Google Shape;513;g3b5eab210b8_0_135"/>
          <p:cNvCxnSpPr/>
          <p:nvPr/>
        </p:nvCxnSpPr>
        <p:spPr>
          <a:xfrm>
            <a:off x="533400" y="714663"/>
            <a:ext cx="7924800" cy="0"/>
          </a:xfrm>
          <a:prstGeom prst="straightConnector1">
            <a:avLst/>
          </a:prstGeom>
          <a:noFill/>
          <a:ln cap="flat" cmpd="thickThin" w="38100">
            <a:solidFill>
              <a:srgbClr val="0070C0"/>
            </a:solidFill>
            <a:prstDash val="solid"/>
            <a:miter lim="800000"/>
            <a:headEnd len="sm" w="sm" type="none"/>
            <a:tailEnd len="sm" w="sm" type="none"/>
          </a:ln>
        </p:spPr>
      </p:cxnSp>
      <p:sp>
        <p:nvSpPr>
          <p:cNvPr id="514" name="Google Shape;514;g3b5eab210b8_0_135"/>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5" name="Google Shape;515;g3b5eab210b8_0_135"/>
          <p:cNvSpPr txBox="1"/>
          <p:nvPr>
            <p:ph idx="11" type="ftr"/>
          </p:nvPr>
        </p:nvSpPr>
        <p:spPr>
          <a:xfrm>
            <a:off x="3239068" y="6523037"/>
            <a:ext cx="3352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516" name="Google Shape;516;g3b5eab210b8_0_135"/>
          <p:cNvSpPr txBox="1"/>
          <p:nvPr>
            <p:ph idx="12" type="sldNum"/>
          </p:nvPr>
        </p:nvSpPr>
        <p:spPr>
          <a:xfrm>
            <a:off x="6629400" y="6497424"/>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US" sz="1200">
                <a:solidFill>
                  <a:schemeClr val="dk1"/>
                </a:solidFill>
                <a:latin typeface="Times New Roman"/>
                <a:ea typeface="Times New Roman"/>
                <a:cs typeface="Times New Roman"/>
                <a:sym typeface="Times New Roman"/>
              </a:rPr>
              <a:t>25</a:t>
            </a:r>
            <a:endParaRPr sz="1200">
              <a:solidFill>
                <a:schemeClr val="dk1"/>
              </a:solidFill>
              <a:latin typeface="Times New Roman"/>
              <a:ea typeface="Times New Roman"/>
              <a:cs typeface="Times New Roman"/>
              <a:sym typeface="Times New Roman"/>
            </a:endParaRPr>
          </a:p>
        </p:txBody>
      </p:sp>
      <p:pic>
        <p:nvPicPr>
          <p:cNvPr descr="kle tech logo" id="517" name="Google Shape;517;g3b5eab210b8_0_135"/>
          <p:cNvPicPr preferRelativeResize="0"/>
          <p:nvPr/>
        </p:nvPicPr>
        <p:blipFill rotWithShape="1">
          <a:blip r:embed="rId3">
            <a:alphaModFix/>
          </a:blip>
          <a:srcRect b="0" l="0" r="0" t="0"/>
          <a:stretch/>
        </p:blipFill>
        <p:spPr>
          <a:xfrm>
            <a:off x="6096000" y="71124"/>
            <a:ext cx="2438401" cy="508084"/>
          </a:xfrm>
          <a:prstGeom prst="rect">
            <a:avLst/>
          </a:prstGeom>
          <a:noFill/>
          <a:ln>
            <a:noFill/>
          </a:ln>
        </p:spPr>
      </p:pic>
      <p:grpSp>
        <p:nvGrpSpPr>
          <p:cNvPr id="518" name="Google Shape;518;g3b5eab210b8_0_135"/>
          <p:cNvGrpSpPr/>
          <p:nvPr/>
        </p:nvGrpSpPr>
        <p:grpSpPr>
          <a:xfrm>
            <a:off x="549088" y="45375"/>
            <a:ext cx="3297265" cy="610232"/>
            <a:chOff x="533400" y="17929"/>
            <a:chExt cx="3297265" cy="660782"/>
          </a:xfrm>
        </p:grpSpPr>
        <p:pic>
          <p:nvPicPr>
            <p:cNvPr id="519" name="Google Shape;519;g3b5eab210b8_0_135"/>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520" name="Google Shape;520;g3b5eab210b8_0_135"/>
            <p:cNvSpPr/>
            <p:nvPr/>
          </p:nvSpPr>
          <p:spPr>
            <a:xfrm>
              <a:off x="1034365" y="17929"/>
              <a:ext cx="27963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521" name="Google Shape;521;g3b5eab210b8_0_135"/>
            <p:cNvSpPr/>
            <p:nvPr/>
          </p:nvSpPr>
          <p:spPr>
            <a:xfrm>
              <a:off x="1359454" y="253440"/>
              <a:ext cx="2471100" cy="27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522" name="Google Shape;522;g3b5eab210b8_0_135"/>
          <p:cNvSpPr/>
          <p:nvPr/>
        </p:nvSpPr>
        <p:spPr>
          <a:xfrm>
            <a:off x="436846" y="1138219"/>
            <a:ext cx="3702600" cy="41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1" i="0" sz="2100" u="none" cap="none" strike="noStrike">
              <a:solidFill>
                <a:schemeClr val="dk1"/>
              </a:solidFill>
              <a:latin typeface="Times New Roman"/>
              <a:ea typeface="Times New Roman"/>
              <a:cs typeface="Times New Roman"/>
              <a:sym typeface="Times New Roman"/>
            </a:endParaRPr>
          </a:p>
        </p:txBody>
      </p:sp>
      <p:sp>
        <p:nvSpPr>
          <p:cNvPr id="523" name="Google Shape;523;g3b5eab210b8_0_135"/>
          <p:cNvSpPr txBox="1"/>
          <p:nvPr/>
        </p:nvSpPr>
        <p:spPr>
          <a:xfrm>
            <a:off x="500062" y="1095374"/>
            <a:ext cx="77748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100">
                <a:latin typeface="Times New Roman"/>
                <a:ea typeface="Times New Roman"/>
                <a:cs typeface="Times New Roman"/>
                <a:sym typeface="Times New Roman"/>
              </a:rPr>
              <a:t>Future Scope:</a:t>
            </a:r>
            <a:endParaRPr b="1" i="0" sz="2100" u="none" cap="none" strike="noStrike">
              <a:solidFill>
                <a:srgbClr val="000000"/>
              </a:solidFill>
              <a:latin typeface="Times New Roman"/>
              <a:ea typeface="Times New Roman"/>
              <a:cs typeface="Times New Roman"/>
              <a:sym typeface="Times New Roman"/>
            </a:endParaRPr>
          </a:p>
        </p:txBody>
      </p:sp>
      <p:sp>
        <p:nvSpPr>
          <p:cNvPr id="524" name="Google Shape;524;g3b5eab210b8_0_135"/>
          <p:cNvSpPr txBox="1"/>
          <p:nvPr/>
        </p:nvSpPr>
        <p:spPr>
          <a:xfrm>
            <a:off x="504824" y="1807368"/>
            <a:ext cx="7608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p:txBody>
      </p:sp>
      <p:sp>
        <p:nvSpPr>
          <p:cNvPr id="525" name="Google Shape;525;g3b5eab210b8_0_135"/>
          <p:cNvSpPr txBox="1"/>
          <p:nvPr/>
        </p:nvSpPr>
        <p:spPr>
          <a:xfrm>
            <a:off x="583350" y="1621200"/>
            <a:ext cx="7824900" cy="4388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Future work may extend this framework in a number of directions. First, the approach can be generalized to incorporate more affordances, such as crossable and obstructed regions, to further increase the accuracy of action-aware perception. </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Second, incorporating temporal information from video sequences can improve the stability and continuity of affordance predictions in dynamic driving situations. </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Third, further improvement of robustness is possible by combining Fourier-based adaptation with other domain-generalization techniques or by fine-tuning the vision-language model on datasets captured in adverse conditions. </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Finally, coupling the affordance perception with downstream planning and control modules will enable end-to-end evaluation of its value for autonomous navigation performance in natural scenes.</a:t>
            </a:r>
            <a:endParaRPr sz="1800">
              <a:solidFill>
                <a:schemeClr val="dk1"/>
              </a:solidFill>
              <a:latin typeface="Times New Roman"/>
              <a:ea typeface="Times New Roman"/>
              <a:cs typeface="Times New Roman"/>
              <a:sym typeface="Times New Roman"/>
            </a:endParaRPr>
          </a:p>
        </p:txBody>
      </p:sp>
      <p:sp>
        <p:nvSpPr>
          <p:cNvPr id="526" name="Google Shape;526;g3b5eab210b8_0_135"/>
          <p:cNvSpPr txBox="1"/>
          <p:nvPr>
            <p:ph idx="10" type="dt"/>
          </p:nvPr>
        </p:nvSpPr>
        <p:spPr>
          <a:xfrm>
            <a:off x="152400" y="6523037"/>
            <a:ext cx="2514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cxnSp>
        <p:nvCxnSpPr>
          <p:cNvPr id="531" name="Google Shape;531;p10"/>
          <p:cNvCxnSpPr/>
          <p:nvPr/>
        </p:nvCxnSpPr>
        <p:spPr>
          <a:xfrm>
            <a:off x="533400" y="655638"/>
            <a:ext cx="8077200" cy="0"/>
          </a:xfrm>
          <a:prstGeom prst="straightConnector1">
            <a:avLst/>
          </a:prstGeom>
          <a:noFill/>
          <a:ln cap="flat" cmpd="thickThin" w="38100">
            <a:solidFill>
              <a:srgbClr val="0070C0"/>
            </a:solidFill>
            <a:prstDash val="solid"/>
            <a:miter lim="800000"/>
            <a:headEnd len="sm" w="sm" type="none"/>
            <a:tailEnd len="sm" w="sm" type="none"/>
          </a:ln>
        </p:spPr>
      </p:cxnSp>
      <p:sp>
        <p:nvSpPr>
          <p:cNvPr id="532" name="Google Shape;532;p10"/>
          <p:cNvSpPr/>
          <p:nvPr/>
        </p:nvSpPr>
        <p:spPr>
          <a:xfrm>
            <a:off x="0" y="6553200"/>
            <a:ext cx="9144000" cy="304800"/>
          </a:xfrm>
          <a:prstGeom prst="rect">
            <a:avLst/>
          </a:prstGeom>
          <a:solidFill>
            <a:srgbClr val="D8D8D8"/>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10"/>
          <p:cNvSpPr/>
          <p:nvPr/>
        </p:nvSpPr>
        <p:spPr>
          <a:xfrm>
            <a:off x="2362200" y="2664065"/>
            <a:ext cx="381000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Thank You</a:t>
            </a:r>
            <a:endParaRPr b="0" i="0" sz="2800" u="none" cap="none" strike="noStrike">
              <a:solidFill>
                <a:schemeClr val="dk1"/>
              </a:solidFill>
              <a:latin typeface="Times New Roman"/>
              <a:ea typeface="Times New Roman"/>
              <a:cs typeface="Times New Roman"/>
              <a:sym typeface="Times New Roman"/>
            </a:endParaRPr>
          </a:p>
        </p:txBody>
      </p:sp>
      <p:pic>
        <p:nvPicPr>
          <p:cNvPr descr="kle tech logo" id="534" name="Google Shape;534;p10"/>
          <p:cNvPicPr preferRelativeResize="0"/>
          <p:nvPr/>
        </p:nvPicPr>
        <p:blipFill rotWithShape="1">
          <a:blip r:embed="rId3">
            <a:alphaModFix/>
          </a:blip>
          <a:srcRect b="0" l="0" r="0" t="0"/>
          <a:stretch/>
        </p:blipFill>
        <p:spPr>
          <a:xfrm>
            <a:off x="6096000" y="71124"/>
            <a:ext cx="2438400" cy="508084"/>
          </a:xfrm>
          <a:prstGeom prst="rect">
            <a:avLst/>
          </a:prstGeom>
          <a:noFill/>
          <a:ln>
            <a:noFill/>
          </a:ln>
        </p:spPr>
      </p:pic>
      <p:grpSp>
        <p:nvGrpSpPr>
          <p:cNvPr id="535" name="Google Shape;535;p10"/>
          <p:cNvGrpSpPr/>
          <p:nvPr/>
        </p:nvGrpSpPr>
        <p:grpSpPr>
          <a:xfrm>
            <a:off x="549088" y="45376"/>
            <a:ext cx="3297243" cy="610262"/>
            <a:chOff x="533400" y="17929"/>
            <a:chExt cx="3297243" cy="660782"/>
          </a:xfrm>
        </p:grpSpPr>
        <p:pic>
          <p:nvPicPr>
            <p:cNvPr id="536" name="Google Shape;536;p10"/>
            <p:cNvPicPr preferRelativeResize="0"/>
            <p:nvPr/>
          </p:nvPicPr>
          <p:blipFill rotWithShape="1">
            <a:blip r:embed="rId4">
              <a:alphaModFix/>
            </a:blip>
            <a:srcRect b="0" l="0" r="0" t="0"/>
            <a:stretch/>
          </p:blipFill>
          <p:spPr>
            <a:xfrm>
              <a:off x="533400" y="45808"/>
              <a:ext cx="557213" cy="632903"/>
            </a:xfrm>
            <a:prstGeom prst="rect">
              <a:avLst/>
            </a:prstGeom>
            <a:noFill/>
            <a:ln>
              <a:noFill/>
            </a:ln>
          </p:spPr>
        </p:pic>
        <p:sp>
          <p:nvSpPr>
            <p:cNvPr id="537" name="Google Shape;537;p10"/>
            <p:cNvSpPr/>
            <p:nvPr/>
          </p:nvSpPr>
          <p:spPr>
            <a:xfrm>
              <a:off x="1034365" y="17929"/>
              <a:ext cx="279627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Center for Intelligent Mobility (CIM)</a:t>
              </a:r>
              <a:endParaRPr b="0" i="0" sz="1400" u="none" cap="none" strike="noStrike">
                <a:solidFill>
                  <a:srgbClr val="000000"/>
                </a:solidFill>
                <a:latin typeface="Arial"/>
                <a:ea typeface="Arial"/>
                <a:cs typeface="Arial"/>
                <a:sym typeface="Arial"/>
              </a:endParaRPr>
            </a:p>
          </p:txBody>
        </p:sp>
        <p:sp>
          <p:nvSpPr>
            <p:cNvPr id="538" name="Google Shape;538;p10"/>
            <p:cNvSpPr/>
            <p:nvPr/>
          </p:nvSpPr>
          <p:spPr>
            <a:xfrm>
              <a:off x="1359454" y="253440"/>
              <a:ext cx="2471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1" lang="en-US" sz="1200" u="none" cap="none" strike="noStrike">
                  <a:solidFill>
                    <a:srgbClr val="FF0000"/>
                  </a:solidFill>
                  <a:latin typeface="Calibri"/>
                  <a:ea typeface="Calibri"/>
                  <a:cs typeface="Calibri"/>
                  <a:sym typeface="Calibri"/>
                </a:rPr>
                <a:t>Envisions Smarter and Safer Mobility</a:t>
              </a:r>
              <a:endParaRPr b="0" i="0" sz="1400" u="none" cap="none" strike="noStrike">
                <a:solidFill>
                  <a:srgbClr val="000000"/>
                </a:solidFill>
                <a:latin typeface="Arial"/>
                <a:ea typeface="Arial"/>
                <a:cs typeface="Arial"/>
                <a:sym typeface="Arial"/>
              </a:endParaRPr>
            </a:p>
          </p:txBody>
        </p:sp>
      </p:grpSp>
      <p:sp>
        <p:nvSpPr>
          <p:cNvPr id="539" name="Google Shape;539;p10"/>
          <p:cNvSpPr txBox="1"/>
          <p:nvPr>
            <p:ph idx="12" type="sldNum"/>
          </p:nvPr>
        </p:nvSpPr>
        <p:spPr>
          <a:xfrm>
            <a:off x="6477000" y="6523039"/>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sz="1200">
                <a:solidFill>
                  <a:schemeClr val="dk1"/>
                </a:solidFill>
              </a:rPr>
              <a:t>‹#›</a:t>
            </a:fld>
            <a:endParaRPr sz="1200">
              <a:solidFill>
                <a:schemeClr val="dk1"/>
              </a:solidFill>
            </a:endParaRPr>
          </a:p>
        </p:txBody>
      </p:sp>
      <p:sp>
        <p:nvSpPr>
          <p:cNvPr id="540" name="Google Shape;540;p10"/>
          <p:cNvSpPr txBox="1"/>
          <p:nvPr>
            <p:ph idx="11" type="ftr"/>
          </p:nvPr>
        </p:nvSpPr>
        <p:spPr>
          <a:xfrm>
            <a:off x="3239068" y="6523037"/>
            <a:ext cx="3352801"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Department of ECE</a:t>
            </a:r>
            <a:endParaRPr/>
          </a:p>
        </p:txBody>
      </p:sp>
      <p:sp>
        <p:nvSpPr>
          <p:cNvPr id="541" name="Google Shape;541;p10"/>
          <p:cNvSpPr txBox="1"/>
          <p:nvPr>
            <p:ph idx="10" type="dt"/>
          </p:nvPr>
        </p:nvSpPr>
        <p:spPr>
          <a:xfrm>
            <a:off x="152400" y="6523037"/>
            <a:ext cx="25146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1200">
                <a:solidFill>
                  <a:schemeClr val="dk1"/>
                </a:solidFill>
                <a:latin typeface="Times New Roman"/>
                <a:ea typeface="Times New Roman"/>
                <a:cs typeface="Times New Roman"/>
                <a:sym typeface="Times New Roman"/>
              </a:rPr>
              <a:t>10/01/2026</a:t>
            </a:r>
            <a:endParaRPr b="1" sz="12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Dell</dc:creator>
</cp:coreProperties>
</file>